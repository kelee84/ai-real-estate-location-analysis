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3" r:id="rId2"/>
    <p:sldId id="325" r:id="rId3"/>
    <p:sldId id="326" r:id="rId4"/>
    <p:sldId id="327" r:id="rId5"/>
    <p:sldId id="328" r:id="rId6"/>
    <p:sldId id="406" r:id="rId7"/>
    <p:sldId id="407" r:id="rId8"/>
    <p:sldId id="408" r:id="rId9"/>
    <p:sldId id="409" r:id="rId10"/>
    <p:sldId id="410" r:id="rId11"/>
    <p:sldId id="411" r:id="rId12"/>
    <p:sldId id="41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용호" initials="이" lastIdx="2" clrIdx="0">
    <p:extLst>
      <p:ext uri="{19B8F6BF-5375-455C-9EA6-DF929625EA0E}">
        <p15:presenceInfo xmlns:p15="http://schemas.microsoft.com/office/powerpoint/2012/main" userId="이용호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CD32"/>
    <a:srgbClr val="CD5C5C"/>
    <a:srgbClr val="DAA520"/>
    <a:srgbClr val="EAA72E"/>
    <a:srgbClr val="F8A450"/>
    <a:srgbClr val="F57B17"/>
    <a:srgbClr val="5B9B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07" autoAdjust="0"/>
    <p:restoredTop sz="94724" autoAdjust="0"/>
  </p:normalViewPr>
  <p:slideViewPr>
    <p:cSldViewPr snapToGrid="0">
      <p:cViewPr>
        <p:scale>
          <a:sx n="100" d="100"/>
          <a:sy n="100" d="100"/>
        </p:scale>
        <p:origin x="2298" y="1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5BF6CF-8DF4-42C5-8ADD-D14F0E490F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293DDD-E191-4F14-A164-EB6536BAF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86D6E-0F90-4272-96FB-524203C2220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0DBBEA-FFEE-47ED-899D-8CFB1BB63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B519BE-069C-4BE2-AB6A-BC81370616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556A18-DEBF-457A-BBC1-A2A69C3363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6197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2BC9E-2E9C-4645-BED3-0314BFDB172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5989E-1320-4FC6-91CD-AB49ADA29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5451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Tttm.Studio/ViewModel/TttmStudioViewModel.cs</a:t>
            </a:r>
          </a:p>
          <a:p>
            <a:r>
              <a:t>Tttm.Analysis/Application/ProfiledTttmAnalysisService.cs</a:t>
            </a:r>
          </a:p>
          <a:p>
            <a:r>
              <a:t>화면은 Task.Run(() =&gt; Analyze(request))를 await한다. 정규화 결과의 Datasets를 기준 모델로 변환한다. 정규화 ImageMetrics를 최종 결과로 복사하지 않는다.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Tttm.Analysis/Application/TttmAnalysisApplicationService.cs</a:t>
            </a:r>
          </a:p>
          <a:p>
            <a:r>
              <a:t>Tttm.Analysis/Infrastructure/KlarfReaderAdapter.cs</a:t>
            </a:r>
          </a:p>
          <a:p>
            <a:r>
              <a:t>Tttm.Analysis/Profiles/InspectionProfiles.cs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Tttm.Analysis/Application/ProfiledTttmAnalysisService.cs</a:t>
            </a:r>
          </a:p>
          <a:p>
            <a:r>
              <a:t>Tttm.Analysis/Contracts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Tttm.Analysis/Engine/NormalizedTttmAnalysisEngine.cs</a:t>
            </a:r>
          </a:p>
          <a:p>
            <a:r>
              <a:t>Tttm.Analysis/Engine/TttmAnalysisEngine.cs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Tttm.Analysis/Metrics/OpenCvImageAnalysisModule.cs</a:t>
            </a:r>
          </a:p>
          <a:p>
            <a:r>
              <a:t>Tttm.Analysis/Engine/TttmAnalysisEngine.cs</a:t>
            </a:r>
          </a:p>
          <a:p>
            <a:r>
              <a:t>Tttm.Studio/Common/TttmPdfReportExporter.cs</a:t>
            </a:r>
          </a:p>
          <a:p>
            <a:r>
              <a:t>영상 모듈 자체는 IoU를 계산하지 않는다. 결함 IoU는 기준 엔진의 쌍별 비교에서 계산한다.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Tttm.Analysis/Application/TttmAnalysisApplicationService.cs</a:t>
            </a:r>
          </a:p>
          <a:p>
            <a:r>
              <a:t>Tttm.Studio/ViewModel/TttmStudioViewModel.cs</a:t>
            </a:r>
          </a:p>
          <a:p>
            <a:r>
              <a:t>AnalyzeAsync의 취소 확인은 동기 Analyze 실행 전후에 수행하며, 현재 Studio 화면 호출은 이 경로가 아니다.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코드 (현재 작업 공간):</a:t>
            </a:r>
          </a:p>
          <a:p>
            <a:r>
              <a:t>Tttm.Analysis/Application/TttmAnalysisApplicationService.cs</a:t>
            </a:r>
          </a:p>
          <a:p>
            <a:r>
              <a:t>Tttm.Analysis/Profiles/InspectionProfiles.cs</a:t>
            </a:r>
          </a:p>
          <a:p>
            <a:r>
              <a:t>Tttm.Studio/ViewModel/TttmStudioViewModel.cs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2FCB-DC3C-4AF4-8C4A-6E0D80AD5F34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32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505575"/>
            <a:ext cx="2743200" cy="365125"/>
          </a:xfrm>
        </p:spPr>
        <p:txBody>
          <a:bodyPr/>
          <a:lstStyle/>
          <a:p>
            <a:fld id="{56DB4DC6-C656-4442-A351-4C531C07D55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8970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448800" y="6489700"/>
            <a:ext cx="2743200" cy="365125"/>
          </a:xfrm>
        </p:spPr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 descr="cressem rogo [Converted].png">
            <a:extLst>
              <a:ext uri="{FF2B5EF4-FFF2-40B4-BE49-F238E27FC236}">
                <a16:creationId xmlns:a16="http://schemas.microsoft.com/office/drawing/2014/main" id="{0B3EC8C2-E849-4A4F-B4FD-62DCAC34E1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86495" y="97685"/>
            <a:ext cx="1455420" cy="2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5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56CE-770B-44CA-BCD9-539FEC634AAC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75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044E3-43F4-464A-AF6C-A63C7047A96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786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3022-54D9-4453-B8F1-54593DF9C0C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78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690-E08F-4B95-AC6B-996B58E98157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26A76-7FC5-4776-B1DF-202117D7869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82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905D-BBB3-4813-9163-B57535EABC0F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176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29D6-18FE-440E-B616-8E3485B693B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59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7A70-E8CD-4355-8444-A8C2F6048EA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02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DFF8-057B-42E7-9815-00CB566281B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0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3567-E0FC-44F3-87D0-6D25D1603F4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2DDD0-36A5-4BE9-B2E9-A3841108E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1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28">
            <a:extLst>
              <a:ext uri="{FF2B5EF4-FFF2-40B4-BE49-F238E27FC236}">
                <a16:creationId xmlns:a16="http://schemas.microsoft.com/office/drawing/2014/main" id="{79FFC405-2CAE-449A-A90C-3FF304AFAE78}"/>
              </a:ext>
            </a:extLst>
          </p:cNvPr>
          <p:cNvSpPr txBox="1"/>
          <p:nvPr/>
        </p:nvSpPr>
        <p:spPr>
          <a:xfrm>
            <a:off x="3315819" y="1816100"/>
            <a:ext cx="7172679" cy="914400"/>
          </a:xfrm>
          <a:prstGeom prst="round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ko-KR" spc="0">
                <a:latin typeface="Malgun Gothic"/>
                <a:ea typeface="맑은 고딕"/>
                <a:cs typeface="Malgun Gothic"/>
              </a:defRPr>
            </a:defPPr>
            <a:lvl1pPr marL="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1pPr>
            <a:lvl2pPr marL="4572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2pPr>
            <a:lvl3pPr marL="9144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3pPr>
            <a:lvl4pPr marL="13716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4pPr>
            <a:lvl5pPr marL="18288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5pPr>
            <a:lvl6pPr marL="22860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6pPr>
            <a:lvl7pPr marL="27432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7pPr>
            <a:lvl8pPr marL="32004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8pPr>
            <a:lvl9pPr marL="36576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9pPr>
          </a:lstStyle>
          <a:p>
            <a:pPr algn="ctr"/>
            <a:r>
              <a:rPr lang="ko-KR" altLang="ko-KR" sz="2800" b="1" spc="0" dirty="0">
                <a:solidFill>
                  <a:srgbClr val="F57B17"/>
                </a:solidFill>
                <a:latin typeface="Malgun Gothic"/>
                <a:cs typeface="Malgun Gothic" pitchFamily="34" charset="0"/>
              </a:rPr>
              <a:t>[OPAL-UC  Vision 검사기]</a:t>
            </a:r>
          </a:p>
          <a:p>
            <a:pPr algn="ctr"/>
            <a:r>
              <a:rPr lang="ko-KR" altLang="ko-KR" sz="2800" b="1" spc="0" dirty="0">
                <a:solidFill>
                  <a:srgbClr val="F57B17"/>
                </a:solidFill>
                <a:latin typeface="Malgun Gothic"/>
                <a:cs typeface="Malgun Gothic" pitchFamily="34" charset="0"/>
              </a:rPr>
              <a:t>TTTM 분석 프로그램 설계서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E6F062C-5FCF-4CEC-9B11-82BB5E8C271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8" name="그룹 37"/>
            <p:cNvGrpSpPr/>
            <p:nvPr/>
          </p:nvGrpSpPr>
          <p:grpSpPr>
            <a:xfrm>
              <a:off x="10488499" y="416055"/>
              <a:ext cx="1619031" cy="1502927"/>
              <a:chOff x="779228" y="386647"/>
              <a:chExt cx="1574800" cy="1581150"/>
            </a:xfrm>
            <a:solidFill>
              <a:schemeClr val="bg1">
                <a:lumMod val="95000"/>
                <a:alpha val="49000"/>
              </a:schemeClr>
            </a:solidFill>
          </p:grpSpPr>
          <p:sp>
            <p:nvSpPr>
              <p:cNvPr id="46" name="Freeform 5"/>
              <p:cNvSpPr>
                <a:spLocks/>
              </p:cNvSpPr>
              <p:nvPr/>
            </p:nvSpPr>
            <p:spPr bwMode="auto">
              <a:xfrm>
                <a:off x="1339616" y="1045460"/>
                <a:ext cx="690563" cy="363538"/>
              </a:xfrm>
              <a:custGeom>
                <a:avLst/>
                <a:gdLst/>
                <a:ahLst/>
                <a:cxnLst>
                  <a:cxn ang="0">
                    <a:pos x="150" y="127"/>
                  </a:cxn>
                  <a:cxn ang="0">
                    <a:pos x="150" y="127"/>
                  </a:cxn>
                  <a:cxn ang="0">
                    <a:pos x="144" y="129"/>
                  </a:cxn>
                  <a:cxn ang="0">
                    <a:pos x="136" y="127"/>
                  </a:cxn>
                  <a:cxn ang="0">
                    <a:pos x="82" y="93"/>
                  </a:cxn>
                  <a:cxn ang="0">
                    <a:pos x="0" y="145"/>
                  </a:cxn>
                  <a:cxn ang="0">
                    <a:pos x="131" y="228"/>
                  </a:cxn>
                  <a:cxn ang="0">
                    <a:pos x="131" y="228"/>
                  </a:cxn>
                  <a:cxn ang="0">
                    <a:pos x="136" y="229"/>
                  </a:cxn>
                  <a:cxn ang="0">
                    <a:pos x="144" y="229"/>
                  </a:cxn>
                  <a:cxn ang="0">
                    <a:pos x="150" y="229"/>
                  </a:cxn>
                  <a:cxn ang="0">
                    <a:pos x="155" y="228"/>
                  </a:cxn>
                  <a:cxn ang="0">
                    <a:pos x="435" y="50"/>
                  </a:cxn>
                  <a:cxn ang="0">
                    <a:pos x="353" y="0"/>
                  </a:cxn>
                  <a:cxn ang="0">
                    <a:pos x="150" y="127"/>
                  </a:cxn>
                </a:cxnLst>
                <a:rect l="0" t="0" r="r" b="b"/>
                <a:pathLst>
                  <a:path w="435" h="229">
                    <a:moveTo>
                      <a:pt x="150" y="127"/>
                    </a:moveTo>
                    <a:lnTo>
                      <a:pt x="150" y="127"/>
                    </a:lnTo>
                    <a:lnTo>
                      <a:pt x="144" y="129"/>
                    </a:lnTo>
                    <a:lnTo>
                      <a:pt x="136" y="127"/>
                    </a:lnTo>
                    <a:lnTo>
                      <a:pt x="82" y="93"/>
                    </a:lnTo>
                    <a:lnTo>
                      <a:pt x="0" y="145"/>
                    </a:lnTo>
                    <a:lnTo>
                      <a:pt x="131" y="228"/>
                    </a:lnTo>
                    <a:lnTo>
                      <a:pt x="131" y="228"/>
                    </a:lnTo>
                    <a:lnTo>
                      <a:pt x="136" y="229"/>
                    </a:lnTo>
                    <a:lnTo>
                      <a:pt x="144" y="229"/>
                    </a:lnTo>
                    <a:lnTo>
                      <a:pt x="150" y="229"/>
                    </a:lnTo>
                    <a:lnTo>
                      <a:pt x="155" y="228"/>
                    </a:lnTo>
                    <a:lnTo>
                      <a:pt x="435" y="50"/>
                    </a:lnTo>
                    <a:lnTo>
                      <a:pt x="353" y="0"/>
                    </a:lnTo>
                    <a:lnTo>
                      <a:pt x="150" y="12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  <p:sp>
            <p:nvSpPr>
              <p:cNvPr id="47" name="Freeform 6"/>
              <p:cNvSpPr>
                <a:spLocks/>
              </p:cNvSpPr>
              <p:nvPr/>
            </p:nvSpPr>
            <p:spPr bwMode="auto">
              <a:xfrm>
                <a:off x="779228" y="386647"/>
                <a:ext cx="1574800" cy="774700"/>
              </a:xfrm>
              <a:custGeom>
                <a:avLst/>
                <a:gdLst/>
                <a:ahLst/>
                <a:cxnLst>
                  <a:cxn ang="0">
                    <a:pos x="970" y="269"/>
                  </a:cxn>
                  <a:cxn ang="0">
                    <a:pos x="581" y="24"/>
                  </a:cxn>
                  <a:cxn ang="0">
                    <a:pos x="581" y="24"/>
                  </a:cxn>
                  <a:cxn ang="0">
                    <a:pos x="560" y="13"/>
                  </a:cxn>
                  <a:cxn ang="0">
                    <a:pos x="540" y="6"/>
                  </a:cxn>
                  <a:cxn ang="0">
                    <a:pos x="518" y="2"/>
                  </a:cxn>
                  <a:cxn ang="0">
                    <a:pos x="497" y="0"/>
                  </a:cxn>
                  <a:cxn ang="0">
                    <a:pos x="475" y="2"/>
                  </a:cxn>
                  <a:cxn ang="0">
                    <a:pos x="452" y="6"/>
                  </a:cxn>
                  <a:cxn ang="0">
                    <a:pos x="432" y="13"/>
                  </a:cxn>
                  <a:cxn ang="0">
                    <a:pos x="413" y="24"/>
                  </a:cxn>
                  <a:cxn ang="0">
                    <a:pos x="22" y="269"/>
                  </a:cxn>
                  <a:cxn ang="0">
                    <a:pos x="22" y="269"/>
                  </a:cxn>
                  <a:cxn ang="0">
                    <a:pos x="13" y="276"/>
                  </a:cxn>
                  <a:cxn ang="0">
                    <a:pos x="6" y="288"/>
                  </a:cxn>
                  <a:cxn ang="0">
                    <a:pos x="2" y="299"/>
                  </a:cxn>
                  <a:cxn ang="0">
                    <a:pos x="0" y="310"/>
                  </a:cxn>
                  <a:cxn ang="0">
                    <a:pos x="2" y="323"/>
                  </a:cxn>
                  <a:cxn ang="0">
                    <a:pos x="6" y="334"/>
                  </a:cxn>
                  <a:cxn ang="0">
                    <a:pos x="13" y="344"/>
                  </a:cxn>
                  <a:cxn ang="0">
                    <a:pos x="22" y="353"/>
                  </a:cxn>
                  <a:cxn ang="0">
                    <a:pos x="237" y="488"/>
                  </a:cxn>
                  <a:cxn ang="0">
                    <a:pos x="319" y="435"/>
                  </a:cxn>
                  <a:cxn ang="0">
                    <a:pos x="138" y="321"/>
                  </a:cxn>
                  <a:cxn ang="0">
                    <a:pos x="138" y="321"/>
                  </a:cxn>
                  <a:cxn ang="0">
                    <a:pos x="133" y="316"/>
                  </a:cxn>
                  <a:cxn ang="0">
                    <a:pos x="133" y="310"/>
                  </a:cxn>
                  <a:cxn ang="0">
                    <a:pos x="133" y="304"/>
                  </a:cxn>
                  <a:cxn ang="0">
                    <a:pos x="138" y="299"/>
                  </a:cxn>
                  <a:cxn ang="0">
                    <a:pos x="454" y="101"/>
                  </a:cxn>
                  <a:cxn ang="0">
                    <a:pos x="454" y="101"/>
                  </a:cxn>
                  <a:cxn ang="0">
                    <a:pos x="465" y="95"/>
                  </a:cxn>
                  <a:cxn ang="0">
                    <a:pos x="475" y="92"/>
                  </a:cxn>
                  <a:cxn ang="0">
                    <a:pos x="486" y="90"/>
                  </a:cxn>
                  <a:cxn ang="0">
                    <a:pos x="497" y="90"/>
                  </a:cxn>
                  <a:cxn ang="0">
                    <a:pos x="508" y="90"/>
                  </a:cxn>
                  <a:cxn ang="0">
                    <a:pos x="518" y="92"/>
                  </a:cxn>
                  <a:cxn ang="0">
                    <a:pos x="529" y="95"/>
                  </a:cxn>
                  <a:cxn ang="0">
                    <a:pos x="538" y="101"/>
                  </a:cxn>
                  <a:cxn ang="0">
                    <a:pos x="856" y="299"/>
                  </a:cxn>
                  <a:cxn ang="0">
                    <a:pos x="856" y="299"/>
                  </a:cxn>
                  <a:cxn ang="0">
                    <a:pos x="859" y="304"/>
                  </a:cxn>
                  <a:cxn ang="0">
                    <a:pos x="861" y="310"/>
                  </a:cxn>
                  <a:cxn ang="0">
                    <a:pos x="859" y="316"/>
                  </a:cxn>
                  <a:cxn ang="0">
                    <a:pos x="856" y="321"/>
                  </a:cxn>
                  <a:cxn ang="0">
                    <a:pos x="822" y="342"/>
                  </a:cxn>
                  <a:cxn ang="0">
                    <a:pos x="904" y="394"/>
                  </a:cxn>
                  <a:cxn ang="0">
                    <a:pos x="970" y="353"/>
                  </a:cxn>
                  <a:cxn ang="0">
                    <a:pos x="970" y="353"/>
                  </a:cxn>
                  <a:cxn ang="0">
                    <a:pos x="979" y="344"/>
                  </a:cxn>
                  <a:cxn ang="0">
                    <a:pos x="986" y="334"/>
                  </a:cxn>
                  <a:cxn ang="0">
                    <a:pos x="992" y="323"/>
                  </a:cxn>
                  <a:cxn ang="0">
                    <a:pos x="992" y="310"/>
                  </a:cxn>
                  <a:cxn ang="0">
                    <a:pos x="992" y="299"/>
                  </a:cxn>
                  <a:cxn ang="0">
                    <a:pos x="986" y="288"/>
                  </a:cxn>
                  <a:cxn ang="0">
                    <a:pos x="979" y="276"/>
                  </a:cxn>
                  <a:cxn ang="0">
                    <a:pos x="970" y="269"/>
                  </a:cxn>
                  <a:cxn ang="0">
                    <a:pos x="970" y="269"/>
                  </a:cxn>
                </a:cxnLst>
                <a:rect l="0" t="0" r="r" b="b"/>
                <a:pathLst>
                  <a:path w="992" h="488">
                    <a:moveTo>
                      <a:pt x="970" y="269"/>
                    </a:moveTo>
                    <a:lnTo>
                      <a:pt x="581" y="24"/>
                    </a:lnTo>
                    <a:lnTo>
                      <a:pt x="581" y="24"/>
                    </a:lnTo>
                    <a:lnTo>
                      <a:pt x="560" y="13"/>
                    </a:lnTo>
                    <a:lnTo>
                      <a:pt x="540" y="6"/>
                    </a:lnTo>
                    <a:lnTo>
                      <a:pt x="518" y="2"/>
                    </a:lnTo>
                    <a:lnTo>
                      <a:pt x="497" y="0"/>
                    </a:lnTo>
                    <a:lnTo>
                      <a:pt x="475" y="2"/>
                    </a:lnTo>
                    <a:lnTo>
                      <a:pt x="452" y="6"/>
                    </a:lnTo>
                    <a:lnTo>
                      <a:pt x="432" y="13"/>
                    </a:lnTo>
                    <a:lnTo>
                      <a:pt x="413" y="24"/>
                    </a:lnTo>
                    <a:lnTo>
                      <a:pt x="22" y="269"/>
                    </a:lnTo>
                    <a:lnTo>
                      <a:pt x="22" y="269"/>
                    </a:lnTo>
                    <a:lnTo>
                      <a:pt x="13" y="276"/>
                    </a:lnTo>
                    <a:lnTo>
                      <a:pt x="6" y="288"/>
                    </a:lnTo>
                    <a:lnTo>
                      <a:pt x="2" y="299"/>
                    </a:lnTo>
                    <a:lnTo>
                      <a:pt x="0" y="310"/>
                    </a:lnTo>
                    <a:lnTo>
                      <a:pt x="2" y="323"/>
                    </a:lnTo>
                    <a:lnTo>
                      <a:pt x="6" y="334"/>
                    </a:lnTo>
                    <a:lnTo>
                      <a:pt x="13" y="344"/>
                    </a:lnTo>
                    <a:lnTo>
                      <a:pt x="22" y="353"/>
                    </a:lnTo>
                    <a:lnTo>
                      <a:pt x="237" y="488"/>
                    </a:lnTo>
                    <a:lnTo>
                      <a:pt x="319" y="435"/>
                    </a:lnTo>
                    <a:lnTo>
                      <a:pt x="138" y="321"/>
                    </a:lnTo>
                    <a:lnTo>
                      <a:pt x="138" y="321"/>
                    </a:lnTo>
                    <a:lnTo>
                      <a:pt x="133" y="316"/>
                    </a:lnTo>
                    <a:lnTo>
                      <a:pt x="133" y="310"/>
                    </a:lnTo>
                    <a:lnTo>
                      <a:pt x="133" y="304"/>
                    </a:lnTo>
                    <a:lnTo>
                      <a:pt x="138" y="299"/>
                    </a:lnTo>
                    <a:lnTo>
                      <a:pt x="454" y="101"/>
                    </a:lnTo>
                    <a:lnTo>
                      <a:pt x="454" y="101"/>
                    </a:lnTo>
                    <a:lnTo>
                      <a:pt x="465" y="95"/>
                    </a:lnTo>
                    <a:lnTo>
                      <a:pt x="475" y="92"/>
                    </a:lnTo>
                    <a:lnTo>
                      <a:pt x="486" y="90"/>
                    </a:lnTo>
                    <a:lnTo>
                      <a:pt x="497" y="90"/>
                    </a:lnTo>
                    <a:lnTo>
                      <a:pt x="508" y="90"/>
                    </a:lnTo>
                    <a:lnTo>
                      <a:pt x="518" y="92"/>
                    </a:lnTo>
                    <a:lnTo>
                      <a:pt x="529" y="95"/>
                    </a:lnTo>
                    <a:lnTo>
                      <a:pt x="538" y="101"/>
                    </a:lnTo>
                    <a:lnTo>
                      <a:pt x="856" y="299"/>
                    </a:lnTo>
                    <a:lnTo>
                      <a:pt x="856" y="299"/>
                    </a:lnTo>
                    <a:lnTo>
                      <a:pt x="859" y="304"/>
                    </a:lnTo>
                    <a:lnTo>
                      <a:pt x="861" y="310"/>
                    </a:lnTo>
                    <a:lnTo>
                      <a:pt x="859" y="316"/>
                    </a:lnTo>
                    <a:lnTo>
                      <a:pt x="856" y="321"/>
                    </a:lnTo>
                    <a:lnTo>
                      <a:pt x="822" y="342"/>
                    </a:lnTo>
                    <a:lnTo>
                      <a:pt x="904" y="394"/>
                    </a:lnTo>
                    <a:lnTo>
                      <a:pt x="970" y="353"/>
                    </a:lnTo>
                    <a:lnTo>
                      <a:pt x="970" y="353"/>
                    </a:lnTo>
                    <a:lnTo>
                      <a:pt x="979" y="344"/>
                    </a:lnTo>
                    <a:lnTo>
                      <a:pt x="986" y="334"/>
                    </a:lnTo>
                    <a:lnTo>
                      <a:pt x="992" y="323"/>
                    </a:lnTo>
                    <a:lnTo>
                      <a:pt x="992" y="310"/>
                    </a:lnTo>
                    <a:lnTo>
                      <a:pt x="992" y="299"/>
                    </a:lnTo>
                    <a:lnTo>
                      <a:pt x="986" y="288"/>
                    </a:lnTo>
                    <a:lnTo>
                      <a:pt x="979" y="276"/>
                    </a:lnTo>
                    <a:lnTo>
                      <a:pt x="970" y="269"/>
                    </a:lnTo>
                    <a:lnTo>
                      <a:pt x="970" y="2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  <p:sp>
            <p:nvSpPr>
              <p:cNvPr id="48" name="Freeform 7"/>
              <p:cNvSpPr>
                <a:spLocks/>
              </p:cNvSpPr>
              <p:nvPr/>
            </p:nvSpPr>
            <p:spPr bwMode="auto">
              <a:xfrm>
                <a:off x="1103078" y="940685"/>
                <a:ext cx="693738" cy="368300"/>
              </a:xfrm>
              <a:custGeom>
                <a:avLst/>
                <a:gdLst/>
                <a:ahLst/>
                <a:cxnLst>
                  <a:cxn ang="0">
                    <a:pos x="285" y="103"/>
                  </a:cxn>
                  <a:cxn ang="0">
                    <a:pos x="285" y="103"/>
                  </a:cxn>
                  <a:cxn ang="0">
                    <a:pos x="293" y="101"/>
                  </a:cxn>
                  <a:cxn ang="0">
                    <a:pos x="299" y="103"/>
                  </a:cxn>
                  <a:cxn ang="0">
                    <a:pos x="353" y="139"/>
                  </a:cxn>
                  <a:cxn ang="0">
                    <a:pos x="437" y="86"/>
                  </a:cxn>
                  <a:cxn ang="0">
                    <a:pos x="304" y="4"/>
                  </a:cxn>
                  <a:cxn ang="0">
                    <a:pos x="304" y="4"/>
                  </a:cxn>
                  <a:cxn ang="0">
                    <a:pos x="299" y="2"/>
                  </a:cxn>
                  <a:cxn ang="0">
                    <a:pos x="293" y="0"/>
                  </a:cxn>
                  <a:cxn ang="0">
                    <a:pos x="285" y="2"/>
                  </a:cxn>
                  <a:cxn ang="0">
                    <a:pos x="280" y="4"/>
                  </a:cxn>
                  <a:cxn ang="0">
                    <a:pos x="0" y="180"/>
                  </a:cxn>
                  <a:cxn ang="0">
                    <a:pos x="82" y="232"/>
                  </a:cxn>
                  <a:cxn ang="0">
                    <a:pos x="285" y="103"/>
                  </a:cxn>
                </a:cxnLst>
                <a:rect l="0" t="0" r="r" b="b"/>
                <a:pathLst>
                  <a:path w="437" h="232">
                    <a:moveTo>
                      <a:pt x="285" y="103"/>
                    </a:moveTo>
                    <a:lnTo>
                      <a:pt x="285" y="103"/>
                    </a:lnTo>
                    <a:lnTo>
                      <a:pt x="293" y="101"/>
                    </a:lnTo>
                    <a:lnTo>
                      <a:pt x="299" y="103"/>
                    </a:lnTo>
                    <a:lnTo>
                      <a:pt x="353" y="139"/>
                    </a:lnTo>
                    <a:lnTo>
                      <a:pt x="437" y="86"/>
                    </a:lnTo>
                    <a:lnTo>
                      <a:pt x="304" y="4"/>
                    </a:lnTo>
                    <a:lnTo>
                      <a:pt x="304" y="4"/>
                    </a:lnTo>
                    <a:lnTo>
                      <a:pt x="299" y="2"/>
                    </a:lnTo>
                    <a:lnTo>
                      <a:pt x="293" y="0"/>
                    </a:lnTo>
                    <a:lnTo>
                      <a:pt x="285" y="2"/>
                    </a:lnTo>
                    <a:lnTo>
                      <a:pt x="280" y="4"/>
                    </a:lnTo>
                    <a:lnTo>
                      <a:pt x="0" y="180"/>
                    </a:lnTo>
                    <a:lnTo>
                      <a:pt x="82" y="232"/>
                    </a:lnTo>
                    <a:lnTo>
                      <a:pt x="285" y="1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  <p:sp>
            <p:nvSpPr>
              <p:cNvPr id="49" name="Freeform 8"/>
              <p:cNvSpPr>
                <a:spLocks/>
              </p:cNvSpPr>
              <p:nvPr/>
            </p:nvSpPr>
            <p:spPr bwMode="auto">
              <a:xfrm>
                <a:off x="779228" y="1193097"/>
                <a:ext cx="1574800" cy="774700"/>
              </a:xfrm>
              <a:custGeom>
                <a:avLst/>
                <a:gdLst/>
                <a:ahLst/>
                <a:cxnLst>
                  <a:cxn ang="0">
                    <a:pos x="970" y="135"/>
                  </a:cxn>
                  <a:cxn ang="0">
                    <a:pos x="755" y="0"/>
                  </a:cxn>
                  <a:cxn ang="0">
                    <a:pos x="673" y="52"/>
                  </a:cxn>
                  <a:cxn ang="0">
                    <a:pos x="856" y="166"/>
                  </a:cxn>
                  <a:cxn ang="0">
                    <a:pos x="856" y="166"/>
                  </a:cxn>
                  <a:cxn ang="0">
                    <a:pos x="859" y="170"/>
                  </a:cxn>
                  <a:cxn ang="0">
                    <a:pos x="861" y="176"/>
                  </a:cxn>
                  <a:cxn ang="0">
                    <a:pos x="859" y="183"/>
                  </a:cxn>
                  <a:cxn ang="0">
                    <a:pos x="856" y="187"/>
                  </a:cxn>
                  <a:cxn ang="0">
                    <a:pos x="538" y="387"/>
                  </a:cxn>
                  <a:cxn ang="0">
                    <a:pos x="538" y="387"/>
                  </a:cxn>
                  <a:cxn ang="0">
                    <a:pos x="529" y="390"/>
                  </a:cxn>
                  <a:cxn ang="0">
                    <a:pos x="518" y="394"/>
                  </a:cxn>
                  <a:cxn ang="0">
                    <a:pos x="508" y="398"/>
                  </a:cxn>
                  <a:cxn ang="0">
                    <a:pos x="497" y="398"/>
                  </a:cxn>
                  <a:cxn ang="0">
                    <a:pos x="486" y="398"/>
                  </a:cxn>
                  <a:cxn ang="0">
                    <a:pos x="475" y="394"/>
                  </a:cxn>
                  <a:cxn ang="0">
                    <a:pos x="465" y="390"/>
                  </a:cxn>
                  <a:cxn ang="0">
                    <a:pos x="454" y="387"/>
                  </a:cxn>
                  <a:cxn ang="0">
                    <a:pos x="138" y="187"/>
                  </a:cxn>
                  <a:cxn ang="0">
                    <a:pos x="138" y="187"/>
                  </a:cxn>
                  <a:cxn ang="0">
                    <a:pos x="133" y="183"/>
                  </a:cxn>
                  <a:cxn ang="0">
                    <a:pos x="133" y="176"/>
                  </a:cxn>
                  <a:cxn ang="0">
                    <a:pos x="133" y="170"/>
                  </a:cxn>
                  <a:cxn ang="0">
                    <a:pos x="138" y="166"/>
                  </a:cxn>
                  <a:cxn ang="0">
                    <a:pos x="170" y="146"/>
                  </a:cxn>
                  <a:cxn ang="0">
                    <a:pos x="88" y="93"/>
                  </a:cxn>
                  <a:cxn ang="0">
                    <a:pos x="22" y="135"/>
                  </a:cxn>
                  <a:cxn ang="0">
                    <a:pos x="22" y="135"/>
                  </a:cxn>
                  <a:cxn ang="0">
                    <a:pos x="13" y="142"/>
                  </a:cxn>
                  <a:cxn ang="0">
                    <a:pos x="6" y="153"/>
                  </a:cxn>
                  <a:cxn ang="0">
                    <a:pos x="2" y="164"/>
                  </a:cxn>
                  <a:cxn ang="0">
                    <a:pos x="0" y="176"/>
                  </a:cxn>
                  <a:cxn ang="0">
                    <a:pos x="2" y="189"/>
                  </a:cxn>
                  <a:cxn ang="0">
                    <a:pos x="6" y="200"/>
                  </a:cxn>
                  <a:cxn ang="0">
                    <a:pos x="13" y="211"/>
                  </a:cxn>
                  <a:cxn ang="0">
                    <a:pos x="22" y="219"/>
                  </a:cxn>
                  <a:cxn ang="0">
                    <a:pos x="413" y="463"/>
                  </a:cxn>
                  <a:cxn ang="0">
                    <a:pos x="413" y="463"/>
                  </a:cxn>
                  <a:cxn ang="0">
                    <a:pos x="432" y="473"/>
                  </a:cxn>
                  <a:cxn ang="0">
                    <a:pos x="452" y="482"/>
                  </a:cxn>
                  <a:cxn ang="0">
                    <a:pos x="475" y="486"/>
                  </a:cxn>
                  <a:cxn ang="0">
                    <a:pos x="497" y="488"/>
                  </a:cxn>
                  <a:cxn ang="0">
                    <a:pos x="518" y="486"/>
                  </a:cxn>
                  <a:cxn ang="0">
                    <a:pos x="540" y="482"/>
                  </a:cxn>
                  <a:cxn ang="0">
                    <a:pos x="560" y="473"/>
                  </a:cxn>
                  <a:cxn ang="0">
                    <a:pos x="581" y="463"/>
                  </a:cxn>
                  <a:cxn ang="0">
                    <a:pos x="970" y="219"/>
                  </a:cxn>
                  <a:cxn ang="0">
                    <a:pos x="970" y="219"/>
                  </a:cxn>
                  <a:cxn ang="0">
                    <a:pos x="979" y="211"/>
                  </a:cxn>
                  <a:cxn ang="0">
                    <a:pos x="986" y="200"/>
                  </a:cxn>
                  <a:cxn ang="0">
                    <a:pos x="992" y="189"/>
                  </a:cxn>
                  <a:cxn ang="0">
                    <a:pos x="992" y="176"/>
                  </a:cxn>
                  <a:cxn ang="0">
                    <a:pos x="992" y="164"/>
                  </a:cxn>
                  <a:cxn ang="0">
                    <a:pos x="986" y="153"/>
                  </a:cxn>
                  <a:cxn ang="0">
                    <a:pos x="979" y="142"/>
                  </a:cxn>
                  <a:cxn ang="0">
                    <a:pos x="970" y="135"/>
                  </a:cxn>
                  <a:cxn ang="0">
                    <a:pos x="970" y="135"/>
                  </a:cxn>
                </a:cxnLst>
                <a:rect l="0" t="0" r="r" b="b"/>
                <a:pathLst>
                  <a:path w="992" h="488">
                    <a:moveTo>
                      <a:pt x="970" y="135"/>
                    </a:moveTo>
                    <a:lnTo>
                      <a:pt x="755" y="0"/>
                    </a:lnTo>
                    <a:lnTo>
                      <a:pt x="673" y="52"/>
                    </a:lnTo>
                    <a:lnTo>
                      <a:pt x="856" y="166"/>
                    </a:lnTo>
                    <a:lnTo>
                      <a:pt x="856" y="166"/>
                    </a:lnTo>
                    <a:lnTo>
                      <a:pt x="859" y="170"/>
                    </a:lnTo>
                    <a:lnTo>
                      <a:pt x="861" y="176"/>
                    </a:lnTo>
                    <a:lnTo>
                      <a:pt x="859" y="183"/>
                    </a:lnTo>
                    <a:lnTo>
                      <a:pt x="856" y="187"/>
                    </a:lnTo>
                    <a:lnTo>
                      <a:pt x="538" y="387"/>
                    </a:lnTo>
                    <a:lnTo>
                      <a:pt x="538" y="387"/>
                    </a:lnTo>
                    <a:lnTo>
                      <a:pt x="529" y="390"/>
                    </a:lnTo>
                    <a:lnTo>
                      <a:pt x="518" y="394"/>
                    </a:lnTo>
                    <a:lnTo>
                      <a:pt x="508" y="398"/>
                    </a:lnTo>
                    <a:lnTo>
                      <a:pt x="497" y="398"/>
                    </a:lnTo>
                    <a:lnTo>
                      <a:pt x="486" y="398"/>
                    </a:lnTo>
                    <a:lnTo>
                      <a:pt x="475" y="394"/>
                    </a:lnTo>
                    <a:lnTo>
                      <a:pt x="465" y="390"/>
                    </a:lnTo>
                    <a:lnTo>
                      <a:pt x="454" y="387"/>
                    </a:lnTo>
                    <a:lnTo>
                      <a:pt x="138" y="187"/>
                    </a:lnTo>
                    <a:lnTo>
                      <a:pt x="138" y="187"/>
                    </a:lnTo>
                    <a:lnTo>
                      <a:pt x="133" y="183"/>
                    </a:lnTo>
                    <a:lnTo>
                      <a:pt x="133" y="176"/>
                    </a:lnTo>
                    <a:lnTo>
                      <a:pt x="133" y="170"/>
                    </a:lnTo>
                    <a:lnTo>
                      <a:pt x="138" y="166"/>
                    </a:lnTo>
                    <a:lnTo>
                      <a:pt x="170" y="146"/>
                    </a:lnTo>
                    <a:lnTo>
                      <a:pt x="88" y="93"/>
                    </a:lnTo>
                    <a:lnTo>
                      <a:pt x="22" y="135"/>
                    </a:lnTo>
                    <a:lnTo>
                      <a:pt x="22" y="135"/>
                    </a:lnTo>
                    <a:lnTo>
                      <a:pt x="13" y="142"/>
                    </a:lnTo>
                    <a:lnTo>
                      <a:pt x="6" y="153"/>
                    </a:lnTo>
                    <a:lnTo>
                      <a:pt x="2" y="164"/>
                    </a:lnTo>
                    <a:lnTo>
                      <a:pt x="0" y="176"/>
                    </a:lnTo>
                    <a:lnTo>
                      <a:pt x="2" y="189"/>
                    </a:lnTo>
                    <a:lnTo>
                      <a:pt x="6" y="200"/>
                    </a:lnTo>
                    <a:lnTo>
                      <a:pt x="13" y="211"/>
                    </a:lnTo>
                    <a:lnTo>
                      <a:pt x="22" y="219"/>
                    </a:lnTo>
                    <a:lnTo>
                      <a:pt x="413" y="463"/>
                    </a:lnTo>
                    <a:lnTo>
                      <a:pt x="413" y="463"/>
                    </a:lnTo>
                    <a:lnTo>
                      <a:pt x="432" y="473"/>
                    </a:lnTo>
                    <a:lnTo>
                      <a:pt x="452" y="482"/>
                    </a:lnTo>
                    <a:lnTo>
                      <a:pt x="475" y="486"/>
                    </a:lnTo>
                    <a:lnTo>
                      <a:pt x="497" y="488"/>
                    </a:lnTo>
                    <a:lnTo>
                      <a:pt x="518" y="486"/>
                    </a:lnTo>
                    <a:lnTo>
                      <a:pt x="540" y="482"/>
                    </a:lnTo>
                    <a:lnTo>
                      <a:pt x="560" y="473"/>
                    </a:lnTo>
                    <a:lnTo>
                      <a:pt x="581" y="463"/>
                    </a:lnTo>
                    <a:lnTo>
                      <a:pt x="970" y="219"/>
                    </a:lnTo>
                    <a:lnTo>
                      <a:pt x="970" y="219"/>
                    </a:lnTo>
                    <a:lnTo>
                      <a:pt x="979" y="211"/>
                    </a:lnTo>
                    <a:lnTo>
                      <a:pt x="986" y="200"/>
                    </a:lnTo>
                    <a:lnTo>
                      <a:pt x="992" y="189"/>
                    </a:lnTo>
                    <a:lnTo>
                      <a:pt x="992" y="176"/>
                    </a:lnTo>
                    <a:lnTo>
                      <a:pt x="992" y="164"/>
                    </a:lnTo>
                    <a:lnTo>
                      <a:pt x="986" y="153"/>
                    </a:lnTo>
                    <a:lnTo>
                      <a:pt x="979" y="142"/>
                    </a:lnTo>
                    <a:lnTo>
                      <a:pt x="970" y="135"/>
                    </a:lnTo>
                    <a:lnTo>
                      <a:pt x="970" y="1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  <p:sp>
            <p:nvSpPr>
              <p:cNvPr id="50" name="Freeform 9"/>
              <p:cNvSpPr>
                <a:spLocks/>
              </p:cNvSpPr>
              <p:nvPr/>
            </p:nvSpPr>
            <p:spPr bwMode="auto">
              <a:xfrm>
                <a:off x="1103078" y="656522"/>
                <a:ext cx="1250950" cy="652463"/>
              </a:xfrm>
              <a:custGeom>
                <a:avLst/>
                <a:gdLst/>
                <a:ahLst/>
                <a:cxnLst>
                  <a:cxn ang="0">
                    <a:pos x="276" y="103"/>
                  </a:cxn>
                  <a:cxn ang="0">
                    <a:pos x="276" y="103"/>
                  </a:cxn>
                  <a:cxn ang="0">
                    <a:pos x="284" y="99"/>
                  </a:cxn>
                  <a:cxn ang="0">
                    <a:pos x="293" y="97"/>
                  </a:cxn>
                  <a:cxn ang="0">
                    <a:pos x="300" y="99"/>
                  </a:cxn>
                  <a:cxn ang="0">
                    <a:pos x="310" y="103"/>
                  </a:cxn>
                  <a:cxn ang="0">
                    <a:pos x="652" y="318"/>
                  </a:cxn>
                  <a:cxn ang="0">
                    <a:pos x="652" y="318"/>
                  </a:cxn>
                  <a:cxn ang="0">
                    <a:pos x="655" y="321"/>
                  </a:cxn>
                  <a:cxn ang="0">
                    <a:pos x="657" y="327"/>
                  </a:cxn>
                  <a:cxn ang="0">
                    <a:pos x="655" y="332"/>
                  </a:cxn>
                  <a:cxn ang="0">
                    <a:pos x="652" y="338"/>
                  </a:cxn>
                  <a:cxn ang="0">
                    <a:pos x="618" y="359"/>
                  </a:cxn>
                  <a:cxn ang="0">
                    <a:pos x="700" y="411"/>
                  </a:cxn>
                  <a:cxn ang="0">
                    <a:pos x="766" y="370"/>
                  </a:cxn>
                  <a:cxn ang="0">
                    <a:pos x="766" y="370"/>
                  </a:cxn>
                  <a:cxn ang="0">
                    <a:pos x="775" y="360"/>
                  </a:cxn>
                  <a:cxn ang="0">
                    <a:pos x="782" y="351"/>
                  </a:cxn>
                  <a:cxn ang="0">
                    <a:pos x="788" y="340"/>
                  </a:cxn>
                  <a:cxn ang="0">
                    <a:pos x="788" y="327"/>
                  </a:cxn>
                  <a:cxn ang="0">
                    <a:pos x="788" y="316"/>
                  </a:cxn>
                  <a:cxn ang="0">
                    <a:pos x="782" y="304"/>
                  </a:cxn>
                  <a:cxn ang="0">
                    <a:pos x="775" y="293"/>
                  </a:cxn>
                  <a:cxn ang="0">
                    <a:pos x="766" y="286"/>
                  </a:cxn>
                  <a:cxn ang="0">
                    <a:pos x="327" y="9"/>
                  </a:cxn>
                  <a:cxn ang="0">
                    <a:pos x="327" y="9"/>
                  </a:cxn>
                  <a:cxn ang="0">
                    <a:pos x="317" y="6"/>
                  </a:cxn>
                  <a:cxn ang="0">
                    <a:pos x="310" y="2"/>
                  </a:cxn>
                  <a:cxn ang="0">
                    <a:pos x="300" y="0"/>
                  </a:cxn>
                  <a:cxn ang="0">
                    <a:pos x="293" y="0"/>
                  </a:cxn>
                  <a:cxn ang="0">
                    <a:pos x="284" y="0"/>
                  </a:cxn>
                  <a:cxn ang="0">
                    <a:pos x="274" y="2"/>
                  </a:cxn>
                  <a:cxn ang="0">
                    <a:pos x="267" y="6"/>
                  </a:cxn>
                  <a:cxn ang="0">
                    <a:pos x="259" y="9"/>
                  </a:cxn>
                  <a:cxn ang="0">
                    <a:pos x="0" y="172"/>
                  </a:cxn>
                  <a:cxn ang="0">
                    <a:pos x="82" y="224"/>
                  </a:cxn>
                  <a:cxn ang="0">
                    <a:pos x="276" y="103"/>
                  </a:cxn>
                </a:cxnLst>
                <a:rect l="0" t="0" r="r" b="b"/>
                <a:pathLst>
                  <a:path w="788" h="411">
                    <a:moveTo>
                      <a:pt x="276" y="103"/>
                    </a:moveTo>
                    <a:lnTo>
                      <a:pt x="276" y="103"/>
                    </a:lnTo>
                    <a:lnTo>
                      <a:pt x="284" y="99"/>
                    </a:lnTo>
                    <a:lnTo>
                      <a:pt x="293" y="97"/>
                    </a:lnTo>
                    <a:lnTo>
                      <a:pt x="300" y="99"/>
                    </a:lnTo>
                    <a:lnTo>
                      <a:pt x="310" y="103"/>
                    </a:lnTo>
                    <a:lnTo>
                      <a:pt x="652" y="318"/>
                    </a:lnTo>
                    <a:lnTo>
                      <a:pt x="652" y="318"/>
                    </a:lnTo>
                    <a:lnTo>
                      <a:pt x="655" y="321"/>
                    </a:lnTo>
                    <a:lnTo>
                      <a:pt x="657" y="327"/>
                    </a:lnTo>
                    <a:lnTo>
                      <a:pt x="655" y="332"/>
                    </a:lnTo>
                    <a:lnTo>
                      <a:pt x="652" y="338"/>
                    </a:lnTo>
                    <a:lnTo>
                      <a:pt x="618" y="359"/>
                    </a:lnTo>
                    <a:lnTo>
                      <a:pt x="700" y="411"/>
                    </a:lnTo>
                    <a:lnTo>
                      <a:pt x="766" y="370"/>
                    </a:lnTo>
                    <a:lnTo>
                      <a:pt x="766" y="370"/>
                    </a:lnTo>
                    <a:lnTo>
                      <a:pt x="775" y="360"/>
                    </a:lnTo>
                    <a:lnTo>
                      <a:pt x="782" y="351"/>
                    </a:lnTo>
                    <a:lnTo>
                      <a:pt x="788" y="340"/>
                    </a:lnTo>
                    <a:lnTo>
                      <a:pt x="788" y="327"/>
                    </a:lnTo>
                    <a:lnTo>
                      <a:pt x="788" y="316"/>
                    </a:lnTo>
                    <a:lnTo>
                      <a:pt x="782" y="304"/>
                    </a:lnTo>
                    <a:lnTo>
                      <a:pt x="775" y="293"/>
                    </a:lnTo>
                    <a:lnTo>
                      <a:pt x="766" y="286"/>
                    </a:lnTo>
                    <a:lnTo>
                      <a:pt x="327" y="9"/>
                    </a:lnTo>
                    <a:lnTo>
                      <a:pt x="327" y="9"/>
                    </a:lnTo>
                    <a:lnTo>
                      <a:pt x="317" y="6"/>
                    </a:lnTo>
                    <a:lnTo>
                      <a:pt x="310" y="2"/>
                    </a:lnTo>
                    <a:lnTo>
                      <a:pt x="300" y="0"/>
                    </a:lnTo>
                    <a:lnTo>
                      <a:pt x="293" y="0"/>
                    </a:lnTo>
                    <a:lnTo>
                      <a:pt x="284" y="0"/>
                    </a:lnTo>
                    <a:lnTo>
                      <a:pt x="274" y="2"/>
                    </a:lnTo>
                    <a:lnTo>
                      <a:pt x="267" y="6"/>
                    </a:lnTo>
                    <a:lnTo>
                      <a:pt x="259" y="9"/>
                    </a:lnTo>
                    <a:lnTo>
                      <a:pt x="0" y="172"/>
                    </a:lnTo>
                    <a:lnTo>
                      <a:pt x="82" y="224"/>
                    </a:lnTo>
                    <a:lnTo>
                      <a:pt x="276" y="1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  <p:sp>
            <p:nvSpPr>
              <p:cNvPr id="51" name="Freeform 10"/>
              <p:cNvSpPr>
                <a:spLocks/>
              </p:cNvSpPr>
              <p:nvPr/>
            </p:nvSpPr>
            <p:spPr bwMode="auto">
              <a:xfrm>
                <a:off x="779228" y="1045460"/>
                <a:ext cx="1250950" cy="652463"/>
              </a:xfrm>
              <a:custGeom>
                <a:avLst/>
                <a:gdLst/>
                <a:ahLst/>
                <a:cxnLst>
                  <a:cxn ang="0">
                    <a:pos x="531" y="401"/>
                  </a:cxn>
                  <a:cxn ang="0">
                    <a:pos x="788" y="239"/>
                  </a:cxn>
                  <a:cxn ang="0">
                    <a:pos x="706" y="186"/>
                  </a:cxn>
                  <a:cxn ang="0">
                    <a:pos x="514" y="308"/>
                  </a:cxn>
                  <a:cxn ang="0">
                    <a:pos x="514" y="308"/>
                  </a:cxn>
                  <a:cxn ang="0">
                    <a:pos x="504" y="312"/>
                  </a:cxn>
                  <a:cxn ang="0">
                    <a:pos x="497" y="312"/>
                  </a:cxn>
                  <a:cxn ang="0">
                    <a:pos x="488" y="312"/>
                  </a:cxn>
                  <a:cxn ang="0">
                    <a:pos x="480" y="308"/>
                  </a:cxn>
                  <a:cxn ang="0">
                    <a:pos x="138" y="93"/>
                  </a:cxn>
                  <a:cxn ang="0">
                    <a:pos x="138" y="93"/>
                  </a:cxn>
                  <a:cxn ang="0">
                    <a:pos x="133" y="87"/>
                  </a:cxn>
                  <a:cxn ang="0">
                    <a:pos x="133" y="82"/>
                  </a:cxn>
                  <a:cxn ang="0">
                    <a:pos x="133" y="76"/>
                  </a:cxn>
                  <a:cxn ang="0">
                    <a:pos x="138" y="73"/>
                  </a:cxn>
                  <a:cxn ang="0">
                    <a:pos x="170" y="50"/>
                  </a:cxn>
                  <a:cxn ang="0">
                    <a:pos x="88" y="0"/>
                  </a:cxn>
                  <a:cxn ang="0">
                    <a:pos x="22" y="41"/>
                  </a:cxn>
                  <a:cxn ang="0">
                    <a:pos x="22" y="41"/>
                  </a:cxn>
                  <a:cxn ang="0">
                    <a:pos x="13" y="48"/>
                  </a:cxn>
                  <a:cxn ang="0">
                    <a:pos x="6" y="59"/>
                  </a:cxn>
                  <a:cxn ang="0">
                    <a:pos x="2" y="71"/>
                  </a:cxn>
                  <a:cxn ang="0">
                    <a:pos x="0" y="82"/>
                  </a:cxn>
                  <a:cxn ang="0">
                    <a:pos x="2" y="95"/>
                  </a:cxn>
                  <a:cxn ang="0">
                    <a:pos x="6" y="106"/>
                  </a:cxn>
                  <a:cxn ang="0">
                    <a:pos x="13" y="115"/>
                  </a:cxn>
                  <a:cxn ang="0">
                    <a:pos x="22" y="125"/>
                  </a:cxn>
                  <a:cxn ang="0">
                    <a:pos x="463" y="401"/>
                  </a:cxn>
                  <a:cxn ang="0">
                    <a:pos x="463" y="401"/>
                  </a:cxn>
                  <a:cxn ang="0">
                    <a:pos x="471" y="405"/>
                  </a:cxn>
                  <a:cxn ang="0">
                    <a:pos x="478" y="409"/>
                  </a:cxn>
                  <a:cxn ang="0">
                    <a:pos x="488" y="409"/>
                  </a:cxn>
                  <a:cxn ang="0">
                    <a:pos x="497" y="411"/>
                  </a:cxn>
                  <a:cxn ang="0">
                    <a:pos x="504" y="409"/>
                  </a:cxn>
                  <a:cxn ang="0">
                    <a:pos x="514" y="409"/>
                  </a:cxn>
                  <a:cxn ang="0">
                    <a:pos x="521" y="405"/>
                  </a:cxn>
                  <a:cxn ang="0">
                    <a:pos x="531" y="401"/>
                  </a:cxn>
                  <a:cxn ang="0">
                    <a:pos x="531" y="401"/>
                  </a:cxn>
                </a:cxnLst>
                <a:rect l="0" t="0" r="r" b="b"/>
                <a:pathLst>
                  <a:path w="788" h="411">
                    <a:moveTo>
                      <a:pt x="531" y="401"/>
                    </a:moveTo>
                    <a:lnTo>
                      <a:pt x="788" y="239"/>
                    </a:lnTo>
                    <a:lnTo>
                      <a:pt x="706" y="186"/>
                    </a:lnTo>
                    <a:lnTo>
                      <a:pt x="514" y="308"/>
                    </a:lnTo>
                    <a:lnTo>
                      <a:pt x="514" y="308"/>
                    </a:lnTo>
                    <a:lnTo>
                      <a:pt x="504" y="312"/>
                    </a:lnTo>
                    <a:lnTo>
                      <a:pt x="497" y="312"/>
                    </a:lnTo>
                    <a:lnTo>
                      <a:pt x="488" y="312"/>
                    </a:lnTo>
                    <a:lnTo>
                      <a:pt x="480" y="308"/>
                    </a:lnTo>
                    <a:lnTo>
                      <a:pt x="138" y="93"/>
                    </a:lnTo>
                    <a:lnTo>
                      <a:pt x="138" y="93"/>
                    </a:lnTo>
                    <a:lnTo>
                      <a:pt x="133" y="87"/>
                    </a:lnTo>
                    <a:lnTo>
                      <a:pt x="133" y="82"/>
                    </a:lnTo>
                    <a:lnTo>
                      <a:pt x="133" y="76"/>
                    </a:lnTo>
                    <a:lnTo>
                      <a:pt x="138" y="73"/>
                    </a:lnTo>
                    <a:lnTo>
                      <a:pt x="170" y="50"/>
                    </a:lnTo>
                    <a:lnTo>
                      <a:pt x="88" y="0"/>
                    </a:lnTo>
                    <a:lnTo>
                      <a:pt x="22" y="41"/>
                    </a:lnTo>
                    <a:lnTo>
                      <a:pt x="22" y="41"/>
                    </a:lnTo>
                    <a:lnTo>
                      <a:pt x="13" y="48"/>
                    </a:lnTo>
                    <a:lnTo>
                      <a:pt x="6" y="59"/>
                    </a:lnTo>
                    <a:lnTo>
                      <a:pt x="2" y="71"/>
                    </a:lnTo>
                    <a:lnTo>
                      <a:pt x="0" y="82"/>
                    </a:lnTo>
                    <a:lnTo>
                      <a:pt x="2" y="95"/>
                    </a:lnTo>
                    <a:lnTo>
                      <a:pt x="6" y="106"/>
                    </a:lnTo>
                    <a:lnTo>
                      <a:pt x="13" y="115"/>
                    </a:lnTo>
                    <a:lnTo>
                      <a:pt x="22" y="125"/>
                    </a:lnTo>
                    <a:lnTo>
                      <a:pt x="463" y="401"/>
                    </a:lnTo>
                    <a:lnTo>
                      <a:pt x="463" y="401"/>
                    </a:lnTo>
                    <a:lnTo>
                      <a:pt x="471" y="405"/>
                    </a:lnTo>
                    <a:lnTo>
                      <a:pt x="478" y="409"/>
                    </a:lnTo>
                    <a:lnTo>
                      <a:pt x="488" y="409"/>
                    </a:lnTo>
                    <a:lnTo>
                      <a:pt x="497" y="411"/>
                    </a:lnTo>
                    <a:lnTo>
                      <a:pt x="504" y="409"/>
                    </a:lnTo>
                    <a:lnTo>
                      <a:pt x="514" y="409"/>
                    </a:lnTo>
                    <a:lnTo>
                      <a:pt x="521" y="405"/>
                    </a:lnTo>
                    <a:lnTo>
                      <a:pt x="531" y="401"/>
                    </a:lnTo>
                    <a:lnTo>
                      <a:pt x="531" y="4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pc="0" dirty="0">
                  <a:latin typeface="Malgun Gothic"/>
                  <a:ea typeface="맑은 고딕"/>
                  <a:cs typeface="Malgun Gothic"/>
                </a:endParaRPr>
              </a:p>
            </p:txBody>
          </p:sp>
        </p:grpSp>
        <p:pic>
          <p:nvPicPr>
            <p:cNvPr id="63" name="그림 62" descr="cressem rogo [Converted]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86495" y="97685"/>
              <a:ext cx="1455420" cy="256919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FEB0ADF-CC92-41E4-AF0E-79161F7B1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521676" cy="68580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5F7943F-0E69-4A9A-9922-B89F8F1F4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9350" y="3269566"/>
              <a:ext cx="4692650" cy="3585468"/>
            </a:xfrm>
            <a:prstGeom prst="rect">
              <a:avLst/>
            </a:prstGeom>
          </p:spPr>
        </p:pic>
      </p:grpSp>
      <p:sp>
        <p:nvSpPr>
          <p:cNvPr id="14" name="TextBox 28"/>
          <p:cNvSpPr txBox="1"/>
          <p:nvPr/>
        </p:nvSpPr>
        <p:spPr>
          <a:xfrm>
            <a:off x="4677177" y="2794000"/>
            <a:ext cx="5644346" cy="508000"/>
          </a:xfrm>
          <a:prstGeom prst="round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ko-KR" spc="0">
                <a:latin typeface="Malgun Gothic"/>
                <a:ea typeface="맑은 고딕"/>
                <a:cs typeface="Malgun Gothic"/>
              </a:defRPr>
            </a:defPPr>
            <a:lvl1pPr marL="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1pPr>
            <a:lvl2pPr marL="4572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2pPr>
            <a:lvl3pPr marL="9144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3pPr>
            <a:lvl4pPr marL="13716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4pPr>
            <a:lvl5pPr marL="18288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5pPr>
            <a:lvl6pPr marL="22860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6pPr>
            <a:lvl7pPr marL="27432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7pPr>
            <a:lvl8pPr marL="32004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8pPr>
            <a:lvl9pPr marL="3657600" algn="l" defTabSz="914400" rtl="0" eaLnBrk="1" latinLnBrk="1" hangingPunct="1">
              <a:defRPr lang="ko-KR" sz="1800" kern="1200" spc="0">
                <a:solidFill>
                  <a:schemeClr val="tx1"/>
                </a:solidFill>
                <a:latin typeface="Malgun Gothic"/>
                <a:ea typeface="맑은 고딕"/>
                <a:cs typeface="Malgun Gothic"/>
              </a:defRPr>
            </a:lvl9pPr>
          </a:lstStyle>
          <a:p>
            <a:r>
              <a:rPr lang="ko-KR" altLang="ko-KR" sz="2000" b="1" spc="0" dirty="0">
                <a:solidFill>
                  <a:srgbClr val="F57B17"/>
                </a:solidFill>
                <a:latin typeface="Malgun Gothic"/>
                <a:cs typeface="Malgun Gothic" pitchFamily="34" charset="0"/>
              </a:rPr>
              <a:t>CRESSEM </a:t>
            </a:r>
            <a:r>
              <a:rPr lang="ko-KR" altLang="ko-KR" sz="2000" b="1" spc="0" dirty="0" smtClean="0">
                <a:solidFill>
                  <a:srgbClr val="F57B17"/>
                </a:solidFill>
                <a:latin typeface="Malgun Gothic"/>
                <a:cs typeface="Malgun Gothic" pitchFamily="34" charset="0"/>
              </a:rPr>
              <a:t>2026/09/22</a:t>
            </a:r>
            <a:endParaRPr lang="ko-KR" altLang="ko-KR" sz="2000" b="1" spc="0" dirty="0">
              <a:solidFill>
                <a:srgbClr val="F57B17"/>
              </a:solidFill>
              <a:latin typeface="Malgun Gothic"/>
              <a:cs typeface="Malgun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3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1B79C3A-59DF-4AA0-BBDC-2A23978E8DC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20400" cy="613378"/>
          </a:xfrm>
          <a:prstGeom prst="roundRect">
            <a:avLst>
              <a:gd name="adj" fmla="val 15789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pc="0" dirty="0" smtClean="0">
                <a:latin typeface="Malgun Gothic"/>
                <a:ea typeface="맑은 고딕"/>
                <a:cs typeface="Malgun Gothic"/>
              </a:rPr>
              <a:t>■ 0. </a:t>
            </a:r>
            <a:r>
              <a:rPr lang="ko-KR" altLang="en-US" spc="0" dirty="0" smtClean="0">
                <a:latin typeface="Malgun Gothic"/>
                <a:ea typeface="맑은 고딕"/>
                <a:cs typeface="Malgun Gothic"/>
              </a:rPr>
              <a:t>시스템 범위</a:t>
            </a:r>
            <a:endParaRPr lang="ko-KR" altLang="en-US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fld id="{72CD3C89-AF9C-4F13-AFB1-B67825C47DCD}" type="slidenum">
              <a:rPr lang="ko-KR" spc="0" dirty="0">
                <a:latin typeface="Malgun Gothic"/>
                <a:ea typeface="맑은 고딕"/>
                <a:cs typeface="Malgun Gothic"/>
              </a:rPr>
              <a:t>2</a:t>
            </a:fld>
            <a:endParaRPr lang="ko-KR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D067A9-634F-4AB9-8801-9A8546D3A50A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A1125A-F01A-469C-A3DC-461AAC5863BA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5E0F22-3625-4E10-8456-CBF287858D8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장비별</a:t>
            </a:r>
            <a:r>
              <a:rPr lang="ko-KR" sz="1725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KLARF와</a:t>
            </a:r>
            <a:r>
              <a:rPr lang="ko-KR" sz="1725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이미지</a:t>
            </a:r>
            <a:endParaRPr lang="ko-KR" sz="1725" b="0" spc="0" dirty="0">
              <a:solidFill>
                <a:srgbClr val="444444"/>
              </a:solidFill>
              <a:latin typeface="Malgun Gothic"/>
              <a:ea typeface="맑은 고딕"/>
              <a:cs typeface="Malgun Gothic"/>
            </a:endParaRP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프로파일·좌표</a:t>
            </a:r>
            <a:r>
              <a:rPr lang="ko-KR" sz="1725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단위</a:t>
            </a:r>
            <a:endParaRPr lang="ko-KR" sz="1725" b="0" spc="0" dirty="0">
              <a:solidFill>
                <a:srgbClr val="444444"/>
              </a:solidFill>
              <a:latin typeface="Malgun Gothic"/>
              <a:ea typeface="맑은 고딕"/>
              <a:cs typeface="Malgun Gothic"/>
            </a:endParaRP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기준</a:t>
            </a:r>
            <a:r>
              <a:rPr lang="ko-KR" sz="1725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장비·공차·필수</a:t>
            </a:r>
            <a:r>
              <a:rPr lang="ko-KR" sz="1725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725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결함</a:t>
            </a:r>
            <a:endParaRPr lang="ko-KR" sz="1725" b="0" spc="0" dirty="0">
              <a:solidFill>
                <a:srgbClr val="444444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B691C0-A3C3-4421-9A52-75B2F33ACD74}"/>
              </a:ext>
            </a:extLst>
          </p:cNvPr>
          <p:cNvSpPr>
            <a:spLocks noGrp="1"/>
          </p:cNvSpPr>
          <p:nvPr/>
        </p:nvSpPr>
        <p:spPr>
          <a:xfrm>
            <a:off x="4419600" y="2095500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3B184D-C09D-4922-B67A-66A19A1FA474}"/>
              </a:ext>
            </a:extLst>
          </p:cNvPr>
          <p:cNvSpPr>
            <a:spLocks noGrp="1"/>
          </p:cNvSpPr>
          <p:nvPr/>
        </p:nvSpPr>
        <p:spPr>
          <a:xfrm>
            <a:off x="4419600" y="26098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95DF26-E84D-4209-BD2F-285C1359A046}"/>
              </a:ext>
            </a:extLst>
          </p:cNvPr>
          <p:cNvSpPr>
            <a:spLocks noGrp="1"/>
          </p:cNvSpPr>
          <p:nvPr/>
        </p:nvSpPr>
        <p:spPr>
          <a:xfrm>
            <a:off x="4419600" y="314325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식별자와 좌표 정규화</a:t>
            </a: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영역별 일대일 결함 매칭</a:t>
            </a: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선택 영상 지표 계산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990DE6-D03E-40EF-9729-8FBB368F7CC2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55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B18A5E-693D-4FFD-B415-08EF6A477455}"/>
              </a:ext>
            </a:extLst>
          </p:cNvPr>
          <p:cNvSpPr>
            <a:spLocks noGrp="1"/>
          </p:cNvSpPr>
          <p:nvPr/>
        </p:nvSpPr>
        <p:spPr>
          <a:xfrm>
            <a:off x="8229600" y="26098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02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결과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4C2265-6DD1-4E92-9189-7D182B049A79}"/>
              </a:ext>
            </a:extLst>
          </p:cNvPr>
          <p:cNvSpPr>
            <a:spLocks noGrp="1"/>
          </p:cNvSpPr>
          <p:nvPr/>
        </p:nvSpPr>
        <p:spPr>
          <a:xfrm>
            <a:off x="8229600" y="314325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공통·단독 검출 통계</a:t>
            </a: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위치·크기·영역별 상세</a:t>
            </a:r>
          </a:p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화면·CSV·이미지·PDF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6E430F-D44A-4CC8-94FF-3583A08030B9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347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Studio는 화면과 파일 출력을, Analysis는 정규화·매칭·측정을 담당한다.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512" y="975277"/>
            <a:ext cx="75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pc="0" dirty="0">
                <a:solidFill>
                  <a:srgbClr val="444444"/>
                </a:solidFill>
                <a:ea typeface="맑은 고딕"/>
                <a:cs typeface="Malgun Gothic"/>
              </a:rPr>
              <a:t>동일 검사 대상에 대한 장비 간 결함과 영상 특성을 </a:t>
            </a:r>
            <a:r>
              <a:rPr lang="ko-KR" altLang="en-US" spc="0" dirty="0" smtClean="0">
                <a:solidFill>
                  <a:srgbClr val="444444"/>
                </a:solidFill>
                <a:ea typeface="맑은 고딕"/>
                <a:cs typeface="Malgun Gothic"/>
              </a:rPr>
              <a:t>비교</a:t>
            </a:r>
            <a:endParaRPr lang="ko-KR" altLang="en-US" spc="0" dirty="0">
              <a:latin typeface="Malgun Gothic"/>
              <a:ea typeface="맑은 고딕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1B79C3A-59DF-4AA0-BBDC-2A23978E8DC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20400" cy="613378"/>
          </a:xfrm>
          <a:prstGeom prst="roundRect">
            <a:avLst>
              <a:gd name="adj" fmla="val 15789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1. 시스템 처리 흐름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fld id="{72CD3C89-AF9C-4F13-AFB1-B67825C47DCD}" type="slidenum">
              <a:rPr lang="ko-KR" spc="0" dirty="0">
                <a:latin typeface="Malgun Gothic"/>
                <a:ea typeface="맑은 고딕"/>
                <a:cs typeface="Malgun Gothic"/>
              </a:rPr>
              <a:t>3</a:t>
            </a:fld>
            <a:endParaRPr lang="ko-KR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5" name="TextBox 4"/>
          <p:cNvSpPr txBox="1"/>
          <p:nvPr/>
        </p:nvSpPr>
        <p:spPr>
          <a:xfrm>
            <a:off x="522512" y="975277"/>
            <a:ext cx="75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spc="0" dirty="0">
                <a:solidFill>
                  <a:srgbClr val="444444"/>
                </a:solidFill>
                <a:ea typeface="맑은 고딕"/>
                <a:cs typeface="Malgun Gothic"/>
              </a:rPr>
              <a:t>결함 매칭 결과와 영상 지표를 화면 및 보고서에서 확인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2BFDC02-ABDD-421F-B6EC-E8629286B21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6AC8E4C-EDF3-46CF-ABC0-C7322988C354}"/>
              </a:ext>
            </a:extLst>
          </p:cNvPr>
          <p:cNvSpPr>
            <a:spLocks noGrp="1"/>
          </p:cNvSpPr>
          <p:nvPr/>
        </p:nvSpPr>
        <p:spPr>
          <a:xfrm>
            <a:off x="685800" y="5277968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altLang="en-US" sz="2200" b="1" spc="0" dirty="0">
                <a:solidFill>
                  <a:srgbClr val="FF0000"/>
                </a:solidFill>
                <a:latin typeface="Malgun Gothic"/>
                <a:ea typeface="맑은 고딕"/>
                <a:cs typeface="Malgun Gothic"/>
              </a:rPr>
              <a:t>좌표 매칭부터 영상 비교까지 같은 분석 결과로 확인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CE1935-E45B-419F-9B60-2595D7ED0EE3}"/>
              </a:ext>
            </a:extLst>
          </p:cNvPr>
          <p:cNvSpPr>
            <a:spLocks noGrp="1"/>
          </p:cNvSpPr>
          <p:nvPr/>
        </p:nvSpPr>
        <p:spPr>
          <a:xfrm>
            <a:off x="2762250" y="2566049"/>
            <a:ext cx="457200" cy="3810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E5EA61-3B26-4545-9104-C2DCA761884A}"/>
              </a:ext>
            </a:extLst>
          </p:cNvPr>
          <p:cNvSpPr>
            <a:spLocks noGrp="1"/>
          </p:cNvSpPr>
          <p:nvPr/>
        </p:nvSpPr>
        <p:spPr>
          <a:xfrm>
            <a:off x="3143250" y="2518424"/>
            <a:ext cx="114300" cy="13335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68C0CBBA-51DC-4FCF-8780-D9897C89D26E}"/>
              </a:ext>
            </a:extLst>
          </p:cNvPr>
          <p:cNvSpPr>
            <a:spLocks noGrp="1"/>
          </p:cNvSpPr>
          <p:nvPr/>
        </p:nvSpPr>
        <p:spPr>
          <a:xfrm>
            <a:off x="685800" y="1737374"/>
            <a:ext cx="20764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859491F-A9E3-478E-8F30-25F5FFEBF447}"/>
              </a:ext>
            </a:extLst>
          </p:cNvPr>
          <p:cNvSpPr>
            <a:spLocks noGrp="1"/>
          </p:cNvSpPr>
          <p:nvPr/>
        </p:nvSpPr>
        <p:spPr>
          <a:xfrm>
            <a:off x="685800" y="1737374"/>
            <a:ext cx="2076450" cy="76200"/>
          </a:xfrm>
          <a:prstGeom prst="rect">
            <a:avLst/>
          </a:prstGeom>
          <a:solidFill>
            <a:srgbClr val="1479C9"/>
          </a:solidFill>
          <a:ln w="0">
            <a:noFill/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13DBAC2-4C41-46F2-AB9B-982C0CFE8F61}"/>
              </a:ext>
            </a:extLst>
          </p:cNvPr>
          <p:cNvSpPr>
            <a:spLocks noGrp="1"/>
          </p:cNvSpPr>
          <p:nvPr/>
        </p:nvSpPr>
        <p:spPr>
          <a:xfrm>
            <a:off x="895350" y="2089799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KLARF 파싱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DFA01F2-205D-45B2-A81A-5CF6EF1A1A54}"/>
              </a:ext>
            </a:extLst>
          </p:cNvPr>
          <p:cNvSpPr>
            <a:spLocks noGrp="1"/>
          </p:cNvSpPr>
          <p:nvPr/>
        </p:nvSpPr>
        <p:spPr>
          <a:xfrm>
            <a:off x="895350" y="2575574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좌표·단위</a:t>
            </a:r>
          </a:p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정규화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05E258A-B109-4E0E-9235-386BD7016582}"/>
              </a:ext>
            </a:extLst>
          </p:cNvPr>
          <p:cNvSpPr>
            <a:spLocks noGrp="1"/>
          </p:cNvSpPr>
          <p:nvPr/>
        </p:nvSpPr>
        <p:spPr>
          <a:xfrm>
            <a:off x="5619750" y="2566049"/>
            <a:ext cx="457200" cy="3810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9694BF7-7F57-4CA1-BF86-9FC1B57D3BA6}"/>
              </a:ext>
            </a:extLst>
          </p:cNvPr>
          <p:cNvSpPr>
            <a:spLocks noGrp="1"/>
          </p:cNvSpPr>
          <p:nvPr/>
        </p:nvSpPr>
        <p:spPr>
          <a:xfrm>
            <a:off x="6000750" y="2518424"/>
            <a:ext cx="114300" cy="13335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445CC8D1-EBB0-450A-A47A-24771054454E}"/>
              </a:ext>
            </a:extLst>
          </p:cNvPr>
          <p:cNvSpPr>
            <a:spLocks noGrp="1"/>
          </p:cNvSpPr>
          <p:nvPr/>
        </p:nvSpPr>
        <p:spPr>
          <a:xfrm>
            <a:off x="3543300" y="1737374"/>
            <a:ext cx="20764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396B48A-BFBF-48F8-9709-33EDFB7FE37C}"/>
              </a:ext>
            </a:extLst>
          </p:cNvPr>
          <p:cNvSpPr>
            <a:spLocks noGrp="1"/>
          </p:cNvSpPr>
          <p:nvPr/>
        </p:nvSpPr>
        <p:spPr>
          <a:xfrm>
            <a:off x="3543300" y="1737374"/>
            <a:ext cx="2076450" cy="76200"/>
          </a:xfrm>
          <a:prstGeom prst="rect">
            <a:avLst/>
          </a:prstGeom>
          <a:solidFill>
            <a:srgbClr val="18A7A7"/>
          </a:solidFill>
          <a:ln w="0">
            <a:noFill/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680CE22-8C9C-432A-9D18-34BED5CCF38F}"/>
              </a:ext>
            </a:extLst>
          </p:cNvPr>
          <p:cNvSpPr>
            <a:spLocks noGrp="1"/>
          </p:cNvSpPr>
          <p:nvPr/>
        </p:nvSpPr>
        <p:spPr>
          <a:xfrm>
            <a:off x="3752850" y="2089799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좌표 매칭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76FEC2-A6C4-4165-AA2A-3456FC34BFCE}"/>
              </a:ext>
            </a:extLst>
          </p:cNvPr>
          <p:cNvSpPr>
            <a:spLocks noGrp="1"/>
          </p:cNvSpPr>
          <p:nvPr/>
        </p:nvSpPr>
        <p:spPr>
          <a:xfrm>
            <a:off x="3752850" y="2575574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 dirty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TP·FP·FN</a:t>
            </a:r>
          </a:p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 dirty="0" err="1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정량</a:t>
            </a:r>
            <a:r>
              <a:rPr lang="ko-KR" sz="1350" b="0" spc="0" dirty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1350" b="0" spc="0" dirty="0" err="1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지표</a:t>
            </a:r>
            <a:endParaRPr lang="ko-KR" sz="1350" b="0" spc="0" dirty="0">
              <a:solidFill>
                <a:srgbClr val="667085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A63264E-4CBD-44A2-AA68-ECD3190C4158}"/>
              </a:ext>
            </a:extLst>
          </p:cNvPr>
          <p:cNvSpPr>
            <a:spLocks noGrp="1"/>
          </p:cNvSpPr>
          <p:nvPr/>
        </p:nvSpPr>
        <p:spPr>
          <a:xfrm>
            <a:off x="8477250" y="2566049"/>
            <a:ext cx="457200" cy="3810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FA2CD2D-34A5-4FCB-9FE0-860B5B4266EE}"/>
              </a:ext>
            </a:extLst>
          </p:cNvPr>
          <p:cNvSpPr>
            <a:spLocks noGrp="1"/>
          </p:cNvSpPr>
          <p:nvPr/>
        </p:nvSpPr>
        <p:spPr>
          <a:xfrm>
            <a:off x="8858250" y="2518424"/>
            <a:ext cx="114300" cy="133350"/>
          </a:xfrm>
          <a:prstGeom prst="rect">
            <a:avLst/>
          </a:prstGeom>
          <a:solidFill>
            <a:srgbClr val="98BAD2"/>
          </a:solidFill>
          <a:ln w="0">
            <a:noFill/>
            <a:prstDash val="solid"/>
          </a:ln>
        </p:spPr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D213AE96-3E9E-48D8-8D15-043BF72895D7}"/>
              </a:ext>
            </a:extLst>
          </p:cNvPr>
          <p:cNvSpPr>
            <a:spLocks noGrp="1"/>
          </p:cNvSpPr>
          <p:nvPr/>
        </p:nvSpPr>
        <p:spPr>
          <a:xfrm>
            <a:off x="6400800" y="1737374"/>
            <a:ext cx="20764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6093119-2532-4C24-8A40-9C58A4513ECB}"/>
              </a:ext>
            </a:extLst>
          </p:cNvPr>
          <p:cNvSpPr>
            <a:spLocks noGrp="1"/>
          </p:cNvSpPr>
          <p:nvPr/>
        </p:nvSpPr>
        <p:spPr>
          <a:xfrm>
            <a:off x="6400800" y="1737374"/>
            <a:ext cx="2076450" cy="76200"/>
          </a:xfrm>
          <a:prstGeom prst="rect">
            <a:avLst/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5EA9C5C-E9F8-4F2C-9C3A-3DE170BE8FD5}"/>
              </a:ext>
            </a:extLst>
          </p:cNvPr>
          <p:cNvSpPr>
            <a:spLocks noGrp="1"/>
          </p:cNvSpPr>
          <p:nvPr/>
        </p:nvSpPr>
        <p:spPr>
          <a:xfrm>
            <a:off x="6610350" y="2089799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영상 지표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839EC0D-4CC4-4DF7-94AC-5E8FBA042F8C}"/>
              </a:ext>
            </a:extLst>
          </p:cNvPr>
          <p:cNvSpPr>
            <a:spLocks noGrp="1"/>
          </p:cNvSpPr>
          <p:nvPr/>
        </p:nvSpPr>
        <p:spPr>
          <a:xfrm>
            <a:off x="6610350" y="2575574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SSIM·차이 영상</a:t>
            </a:r>
          </a:p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IoU 결과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D062E4D5-9E19-442E-9E69-B9175423657E}"/>
              </a:ext>
            </a:extLst>
          </p:cNvPr>
          <p:cNvSpPr>
            <a:spLocks noGrp="1"/>
          </p:cNvSpPr>
          <p:nvPr/>
        </p:nvSpPr>
        <p:spPr>
          <a:xfrm>
            <a:off x="9258300" y="1737374"/>
            <a:ext cx="20764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1EFF2B2-81E1-488C-9F2F-743ADA12BE61}"/>
              </a:ext>
            </a:extLst>
          </p:cNvPr>
          <p:cNvSpPr>
            <a:spLocks noGrp="1"/>
          </p:cNvSpPr>
          <p:nvPr/>
        </p:nvSpPr>
        <p:spPr>
          <a:xfrm>
            <a:off x="9258300" y="1737374"/>
            <a:ext cx="2076450" cy="762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3213939-4704-49D7-BEC8-3222C18B422E}"/>
              </a:ext>
            </a:extLst>
          </p:cNvPr>
          <p:cNvSpPr>
            <a:spLocks noGrp="1"/>
          </p:cNvSpPr>
          <p:nvPr/>
        </p:nvSpPr>
        <p:spPr>
          <a:xfrm>
            <a:off x="9467850" y="2089799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리포트 저장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7656E7F-DE8E-424E-B1E2-E91189228FBB}"/>
              </a:ext>
            </a:extLst>
          </p:cNvPr>
          <p:cNvSpPr>
            <a:spLocks noGrp="1"/>
          </p:cNvSpPr>
          <p:nvPr/>
        </p:nvSpPr>
        <p:spPr>
          <a:xfrm>
            <a:off x="9467850" y="2575574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좌표·이미지</a:t>
            </a:r>
          </a:p>
          <a:p>
            <a:pPr algn="l">
              <a:def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350" b="0" spc="0">
                <a:solidFill>
                  <a:srgbClr val="667085"/>
                </a:solidFill>
                <a:latin typeface="Malgun Gothic"/>
                <a:ea typeface="맑은 고딕"/>
                <a:cs typeface="Malgun Gothic"/>
              </a:rPr>
              <a:t>결과 저장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633D744-5811-4AF2-8E08-2B165A36397D}"/>
              </a:ext>
            </a:extLst>
          </p:cNvPr>
          <p:cNvSpPr>
            <a:spLocks noGrp="1"/>
          </p:cNvSpPr>
          <p:nvPr/>
        </p:nvSpPr>
        <p:spPr>
          <a:xfrm>
            <a:off x="685800" y="4168697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lang="ko-KR" sz="165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결과 항목</a:t>
            </a:r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924DEC12-0EB2-4851-8B69-B94616F644A8}"/>
              </a:ext>
            </a:extLst>
          </p:cNvPr>
          <p:cNvSpPr>
            <a:spLocks noGrp="1"/>
          </p:cNvSpPr>
          <p:nvPr/>
        </p:nvSpPr>
        <p:spPr>
          <a:xfrm>
            <a:off x="2857500" y="4168697"/>
            <a:ext cx="1428750" cy="266700"/>
          </a:xfrm>
          <a:prstGeom prst="roundRect">
            <a:avLst>
              <a:gd name="adj" fmla="val 42857"/>
            </a:avLst>
          </a:prstGeom>
          <a:solidFill>
            <a:srgbClr val="1479C9"/>
          </a:solidFill>
          <a:ln w="0">
            <a:noFill/>
            <a:prstDash val="solid"/>
          </a:ln>
        </p:spPr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CCEB304-3387-4BB8-807B-1A5944C7AAE1}"/>
              </a:ext>
            </a:extLst>
          </p:cNvPr>
          <p:cNvSpPr>
            <a:spLocks noGrp="1"/>
          </p:cNvSpPr>
          <p:nvPr/>
        </p:nvSpPr>
        <p:spPr>
          <a:xfrm>
            <a:off x="2857500" y="4168697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정량 결과</a:t>
            </a: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10A71920-694F-4521-95F5-08F1DA9D4452}"/>
              </a:ext>
            </a:extLst>
          </p:cNvPr>
          <p:cNvSpPr>
            <a:spLocks noGrp="1"/>
          </p:cNvSpPr>
          <p:nvPr/>
        </p:nvSpPr>
        <p:spPr>
          <a:xfrm>
            <a:off x="4476750" y="4168697"/>
            <a:ext cx="1619250" cy="266700"/>
          </a:xfrm>
          <a:prstGeom prst="roundRect">
            <a:avLst>
              <a:gd name="adj" fmla="val 42857"/>
            </a:avLst>
          </a:prstGeom>
          <a:solidFill>
            <a:srgbClr val="18A7A7"/>
          </a:solidFill>
          <a:ln w="0">
            <a:noFill/>
            <a:prstDash val="solid"/>
          </a:ln>
        </p:spPr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39CE4EE-1029-4200-BAD7-827E4C5C8415}"/>
              </a:ext>
            </a:extLst>
          </p:cNvPr>
          <p:cNvSpPr>
            <a:spLocks noGrp="1"/>
          </p:cNvSpPr>
          <p:nvPr/>
        </p:nvSpPr>
        <p:spPr>
          <a:xfrm>
            <a:off x="4476750" y="4168697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HeatMap 이미지</a:t>
            </a:r>
          </a:p>
        </p:txBody>
      </p: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BCC42EE9-67F5-4D50-9F4F-29E6C96C21B8}"/>
              </a:ext>
            </a:extLst>
          </p:cNvPr>
          <p:cNvSpPr>
            <a:spLocks noGrp="1"/>
          </p:cNvSpPr>
          <p:nvPr/>
        </p:nvSpPr>
        <p:spPr>
          <a:xfrm>
            <a:off x="6286500" y="4168697"/>
            <a:ext cx="1714500" cy="266700"/>
          </a:xfrm>
          <a:prstGeom prst="roundRect">
            <a:avLst>
              <a:gd name="adj" fmla="val 42857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BA38B89-6DDC-444C-8BD3-84164A0C83A2}"/>
              </a:ext>
            </a:extLst>
          </p:cNvPr>
          <p:cNvSpPr>
            <a:spLocks noGrp="1"/>
          </p:cNvSpPr>
          <p:nvPr/>
        </p:nvSpPr>
        <p:spPr>
          <a:xfrm>
            <a:off x="6286500" y="4168697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IoU 결과 이미지</a:t>
            </a: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C7265D2E-ADE3-42E2-BFAE-54A009A0CB56}"/>
              </a:ext>
            </a:extLst>
          </p:cNvPr>
          <p:cNvSpPr>
            <a:spLocks noGrp="1"/>
          </p:cNvSpPr>
          <p:nvPr/>
        </p:nvSpPr>
        <p:spPr>
          <a:xfrm>
            <a:off x="8191500" y="4168697"/>
            <a:ext cx="1714500" cy="266700"/>
          </a:xfrm>
          <a:prstGeom prst="roundRect">
            <a:avLst>
              <a:gd name="adj" fmla="val 42857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470B292-D471-4837-88EB-5FB8A1A0935E}"/>
              </a:ext>
            </a:extLst>
          </p:cNvPr>
          <p:cNvSpPr>
            <a:spLocks noGrp="1"/>
          </p:cNvSpPr>
          <p:nvPr/>
        </p:nvSpPr>
        <p:spPr>
          <a:xfrm>
            <a:off x="8191500" y="4168697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75" b="1" spc="0" dirty="0" err="1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좌표매칭</a:t>
            </a:r>
            <a:r>
              <a:rPr lang="ko-KR" sz="975" b="1" spc="0" dirty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 </a:t>
            </a:r>
            <a:r>
              <a:rPr lang="ko-KR" sz="975" b="1" spc="0" dirty="0" err="1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리포트</a:t>
            </a:r>
            <a:endParaRPr lang="ko-KR" sz="975" b="1" spc="0" dirty="0">
              <a:solidFill>
                <a:srgbClr val="FFFFFF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C7265D2E-ADE3-42E2-BFAE-54A009A0CB56}"/>
              </a:ext>
            </a:extLst>
          </p:cNvPr>
          <p:cNvSpPr>
            <a:spLocks noGrp="1"/>
          </p:cNvSpPr>
          <p:nvPr/>
        </p:nvSpPr>
        <p:spPr>
          <a:xfrm>
            <a:off x="10091159" y="4176135"/>
            <a:ext cx="1714500" cy="266700"/>
          </a:xfrm>
          <a:prstGeom prst="roundRect">
            <a:avLst>
              <a:gd name="adj" fmla="val 42857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>
              <a:defRPr lang="ko-KR" sz="975" b="1" spc="0">
                <a:solidFill>
                  <a:srgbClr val="FFFFFF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altLang="ko-KR" b="1" spc="0" dirty="0" smtClean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Profile </a:t>
            </a:r>
            <a:r>
              <a:rPr lang="ko-KR" altLang="en-US" b="1" spc="0" dirty="0" smtClean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이미지</a:t>
            </a:r>
            <a:endParaRPr lang="ko-KR" altLang="en-US" b="1" spc="0" dirty="0">
              <a:solidFill>
                <a:srgbClr val="FFFFFF"/>
              </a:solidFill>
              <a:latin typeface="Malgun Gothic"/>
              <a:ea typeface="맑은 고딕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8286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1B79C3A-59DF-4AA0-BBDC-2A23978E8DC4}"/>
              </a:ext>
            </a:extLst>
          </p:cNvPr>
          <p:cNvSpPr>
            <a:spLocks noGrp="1"/>
          </p:cNvSpPr>
          <p:nvPr/>
        </p:nvSpPr>
        <p:spPr>
          <a:xfrm>
            <a:off x="628650" y="5611757"/>
            <a:ext cx="10820400" cy="558438"/>
          </a:xfrm>
          <a:prstGeom prst="roundRect">
            <a:avLst>
              <a:gd name="adj" fmla="val 15789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pc="0" dirty="0" smtClean="0">
                <a:latin typeface="Malgun Gothic"/>
                <a:ea typeface="맑은 고딕"/>
                <a:cs typeface="Malgun Gothic"/>
              </a:rPr>
              <a:t>■ 2. </a:t>
            </a:r>
            <a:r>
              <a:rPr lang="ko-KR" altLang="en-US" sz="2400" b="1" spc="0" dirty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컴포넌트 </a:t>
            </a:r>
            <a:r>
              <a:rPr lang="ko-KR" altLang="en-US" sz="2400" b="1" spc="0" dirty="0" smtClean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다이어그램</a:t>
            </a:r>
            <a:endParaRPr lang="ko-KR" altLang="en-US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fld id="{72CD3C89-AF9C-4F13-AFB1-B67825C47DCD}" type="slidenum">
              <a:rPr lang="ko-KR" spc="0" dirty="0">
                <a:latin typeface="Malgun Gothic"/>
                <a:ea typeface="맑은 고딕"/>
                <a:cs typeface="Malgun Gothic"/>
              </a:rPr>
              <a:t>4</a:t>
            </a:fld>
            <a:endParaRPr lang="ko-KR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AB8BB9-B3AB-41BB-9FB3-7484382F1744}"/>
              </a:ext>
            </a:extLst>
          </p:cNvPr>
          <p:cNvSpPr>
            <a:spLocks noGrp="1"/>
          </p:cNvSpPr>
          <p:nvPr/>
        </p:nvSpPr>
        <p:spPr>
          <a:xfrm>
            <a:off x="609600" y="704942"/>
            <a:ext cx="26670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10D021-7A40-489B-A162-89A07F52A5A8}"/>
              </a:ext>
            </a:extLst>
          </p:cNvPr>
          <p:cNvSpPr>
            <a:spLocks noGrp="1"/>
          </p:cNvSpPr>
          <p:nvPr/>
        </p:nvSpPr>
        <p:spPr>
          <a:xfrm>
            <a:off x="742950" y="828767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Tttm.Studio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52286D-2B44-4503-B850-BB38E189F0EF}"/>
              </a:ext>
            </a:extLst>
          </p:cNvPr>
          <p:cNvSpPr>
            <a:spLocks noGrp="1"/>
          </p:cNvSpPr>
          <p:nvPr/>
        </p:nvSpPr>
        <p:spPr>
          <a:xfrm>
            <a:off x="742950" y="1171667"/>
            <a:ext cx="2400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ViewModel · 명령 · 결과 표시</a:t>
            </a:r>
          </a:p>
        </p:txBody>
      </p:sp>
      <p:sp>
        <p:nvSpPr>
          <p:cNvPr id="26" name="오른쪽 화살표 25">
            <a:extLst>
              <a:ext uri="{FF2B5EF4-FFF2-40B4-BE49-F238E27FC236}">
                <a16:creationId xmlns:a16="http://schemas.microsoft.com/office/drawing/2014/main" id="{C8E9A586-C30D-4856-B6B7-66628E5D4398}"/>
              </a:ext>
            </a:extLst>
          </p:cNvPr>
          <p:cNvSpPr>
            <a:spLocks noGrp="1"/>
          </p:cNvSpPr>
          <p:nvPr/>
        </p:nvSpPr>
        <p:spPr>
          <a:xfrm>
            <a:off x="3352800" y="1076417"/>
            <a:ext cx="457200" cy="114300"/>
          </a:xfrm>
          <a:prstGeom prst="right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877C811-83A1-4A68-9B31-153C1089DD9E}"/>
              </a:ext>
            </a:extLst>
          </p:cNvPr>
          <p:cNvSpPr>
            <a:spLocks noGrp="1"/>
          </p:cNvSpPr>
          <p:nvPr/>
        </p:nvSpPr>
        <p:spPr>
          <a:xfrm>
            <a:off x="3886200" y="704942"/>
            <a:ext cx="3333750" cy="857250"/>
          </a:xfrm>
          <a:prstGeom prst="rect">
            <a:avLst/>
          </a:prstGeom>
          <a:solidFill>
            <a:srgbClr val="FFF4F4"/>
          </a:solidFill>
          <a:ln w="11430">
            <a:solidFill>
              <a:srgbClr val="E8000D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47ED00-7AE3-4E9D-A2EC-D71E6682EFE9}"/>
              </a:ext>
            </a:extLst>
          </p:cNvPr>
          <p:cNvSpPr>
            <a:spLocks noGrp="1"/>
          </p:cNvSpPr>
          <p:nvPr/>
        </p:nvSpPr>
        <p:spPr>
          <a:xfrm>
            <a:off x="4019550" y="828767"/>
            <a:ext cx="3067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프로파일 분석 서비스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DC2DB7-880C-4888-8BEF-E0EBDB6442FF}"/>
              </a:ext>
            </a:extLst>
          </p:cNvPr>
          <p:cNvSpPr>
            <a:spLocks noGrp="1"/>
          </p:cNvSpPr>
          <p:nvPr/>
        </p:nvSpPr>
        <p:spPr>
          <a:xfrm>
            <a:off x="4019550" y="1171667"/>
            <a:ext cx="3067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ProfiledTttmAnalysisService</a:t>
            </a:r>
          </a:p>
        </p:txBody>
      </p:sp>
      <p:sp>
        <p:nvSpPr>
          <p:cNvPr id="30" name="오른쪽 화살표 29">
            <a:extLst>
              <a:ext uri="{FF2B5EF4-FFF2-40B4-BE49-F238E27FC236}">
                <a16:creationId xmlns:a16="http://schemas.microsoft.com/office/drawing/2014/main" id="{4DC876CE-C519-4993-822F-175E8FA1583F}"/>
              </a:ext>
            </a:extLst>
          </p:cNvPr>
          <p:cNvSpPr>
            <a:spLocks noGrp="1"/>
          </p:cNvSpPr>
          <p:nvPr/>
        </p:nvSpPr>
        <p:spPr>
          <a:xfrm>
            <a:off x="7296150" y="1076417"/>
            <a:ext cx="457200" cy="114300"/>
          </a:xfrm>
          <a:prstGeom prst="right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5AC412-D499-46C6-B572-50C7A18DF40A}"/>
              </a:ext>
            </a:extLst>
          </p:cNvPr>
          <p:cNvSpPr>
            <a:spLocks noGrp="1"/>
          </p:cNvSpPr>
          <p:nvPr/>
        </p:nvSpPr>
        <p:spPr>
          <a:xfrm>
            <a:off x="7829550" y="704942"/>
            <a:ext cx="36195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B739C3-61E2-44AC-9575-4C9188F71CCB}"/>
              </a:ext>
            </a:extLst>
          </p:cNvPr>
          <p:cNvSpPr>
            <a:spLocks noGrp="1"/>
          </p:cNvSpPr>
          <p:nvPr/>
        </p:nvSpPr>
        <p:spPr>
          <a:xfrm>
            <a:off x="7962900" y="828767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기준 분석 엔진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80422D-3880-4E9E-85D5-B6EA76EA23BB}"/>
              </a:ext>
            </a:extLst>
          </p:cNvPr>
          <p:cNvSpPr>
            <a:spLocks noGrp="1"/>
          </p:cNvSpPr>
          <p:nvPr/>
        </p:nvSpPr>
        <p:spPr>
          <a:xfrm>
            <a:off x="7962900" y="1171667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TttmAnalysisEngine</a:t>
            </a:r>
          </a:p>
        </p:txBody>
      </p:sp>
      <p:sp>
        <p:nvSpPr>
          <p:cNvPr id="34" name="아래쪽 화살표 33">
            <a:extLst>
              <a:ext uri="{FF2B5EF4-FFF2-40B4-BE49-F238E27FC236}">
                <a16:creationId xmlns:a16="http://schemas.microsoft.com/office/drawing/2014/main" id="{735C964A-9B48-41AD-8987-CB3C0D383CC8}"/>
              </a:ext>
            </a:extLst>
          </p:cNvPr>
          <p:cNvSpPr>
            <a:spLocks noGrp="1"/>
          </p:cNvSpPr>
          <p:nvPr/>
        </p:nvSpPr>
        <p:spPr>
          <a:xfrm>
            <a:off x="5486400" y="1581242"/>
            <a:ext cx="114300" cy="285750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F53CFB1-4351-4747-9E6C-7A246D4CE5A9}"/>
              </a:ext>
            </a:extLst>
          </p:cNvPr>
          <p:cNvSpPr>
            <a:spLocks noGrp="1"/>
          </p:cNvSpPr>
          <p:nvPr/>
        </p:nvSpPr>
        <p:spPr>
          <a:xfrm>
            <a:off x="3886200" y="1905092"/>
            <a:ext cx="333375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A3C2B5-9CDB-4A24-AA4C-FC0239C98E18}"/>
              </a:ext>
            </a:extLst>
          </p:cNvPr>
          <p:cNvSpPr>
            <a:spLocks noGrp="1"/>
          </p:cNvSpPr>
          <p:nvPr/>
        </p:nvSpPr>
        <p:spPr>
          <a:xfrm>
            <a:off x="4019550" y="2028917"/>
            <a:ext cx="3067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Application Service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AB5AAB-74AB-4416-9676-CD0C96CF1DFC}"/>
              </a:ext>
            </a:extLst>
          </p:cNvPr>
          <p:cNvSpPr>
            <a:spLocks noGrp="1"/>
          </p:cNvSpPr>
          <p:nvPr/>
        </p:nvSpPr>
        <p:spPr>
          <a:xfrm>
            <a:off x="4019550" y="2371817"/>
            <a:ext cx="3067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읽기·정규화·분석 실행 조정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A04A2A11-B00F-4671-A209-0E6AB01EB7A3}"/>
              </a:ext>
            </a:extLst>
          </p:cNvPr>
          <p:cNvSpPr>
            <a:spLocks noGrp="1"/>
          </p:cNvSpPr>
          <p:nvPr/>
        </p:nvSpPr>
        <p:spPr>
          <a:xfrm>
            <a:off x="5543550" y="2762342"/>
            <a:ext cx="0" cy="247650"/>
          </a:xfrm>
          <a:prstGeom prst="line">
            <a:avLst/>
          </a:prstGeom>
          <a:noFill/>
          <a:ln w="11430">
            <a:solidFill>
              <a:srgbClr val="E8000D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6C868E3D-7945-4534-BF3E-3EC5C6CDF000}"/>
              </a:ext>
            </a:extLst>
          </p:cNvPr>
          <p:cNvSpPr>
            <a:spLocks noGrp="1"/>
          </p:cNvSpPr>
          <p:nvPr/>
        </p:nvSpPr>
        <p:spPr>
          <a:xfrm>
            <a:off x="1885950" y="3009992"/>
            <a:ext cx="8286750" cy="0"/>
          </a:xfrm>
          <a:prstGeom prst="line">
            <a:avLst/>
          </a:prstGeom>
          <a:noFill/>
          <a:ln w="9525">
            <a:solidFill>
              <a:srgbClr val="E8000D"/>
            </a:solidFill>
          </a:ln>
        </p:spPr>
      </p:sp>
      <p:sp>
        <p:nvSpPr>
          <p:cNvPr id="41" name="아래쪽 화살표 40">
            <a:extLst>
              <a:ext uri="{FF2B5EF4-FFF2-40B4-BE49-F238E27FC236}">
                <a16:creationId xmlns:a16="http://schemas.microsoft.com/office/drawing/2014/main" id="{323EE330-7ED8-44A2-ACAC-4941511923E7}"/>
              </a:ext>
            </a:extLst>
          </p:cNvPr>
          <p:cNvSpPr>
            <a:spLocks noGrp="1"/>
          </p:cNvSpPr>
          <p:nvPr/>
        </p:nvSpPr>
        <p:spPr>
          <a:xfrm>
            <a:off x="1828800" y="3009992"/>
            <a:ext cx="114300" cy="180975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7080565-8BF2-494D-A0AE-BF3208987C60}"/>
              </a:ext>
            </a:extLst>
          </p:cNvPr>
          <p:cNvSpPr>
            <a:spLocks noGrp="1"/>
          </p:cNvSpPr>
          <p:nvPr/>
        </p:nvSpPr>
        <p:spPr>
          <a:xfrm>
            <a:off x="609600" y="3210017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68E7F54-D435-4202-870E-CF5D219411A9}"/>
              </a:ext>
            </a:extLst>
          </p:cNvPr>
          <p:cNvSpPr>
            <a:spLocks noGrp="1"/>
          </p:cNvSpPr>
          <p:nvPr/>
        </p:nvSpPr>
        <p:spPr>
          <a:xfrm>
            <a:off x="742950" y="3333842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 dirty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Infrastructure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368DF6-31DA-42B4-AAED-9CDC2CEB95DD}"/>
              </a:ext>
            </a:extLst>
          </p:cNvPr>
          <p:cNvSpPr>
            <a:spLocks noGrp="1"/>
          </p:cNvSpPr>
          <p:nvPr/>
        </p:nvSpPr>
        <p:spPr>
          <a:xfrm>
            <a:off x="742950" y="3676742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Reader · Metadata</a:t>
            </a:r>
          </a:p>
        </p:txBody>
      </p:sp>
      <p:sp>
        <p:nvSpPr>
          <p:cNvPr id="45" name="아래쪽 화살표 44">
            <a:extLst>
              <a:ext uri="{FF2B5EF4-FFF2-40B4-BE49-F238E27FC236}">
                <a16:creationId xmlns:a16="http://schemas.microsoft.com/office/drawing/2014/main" id="{82CBFB43-3C75-41E0-81BE-0B0064E1D28E}"/>
              </a:ext>
            </a:extLst>
          </p:cNvPr>
          <p:cNvSpPr>
            <a:spLocks noGrp="1"/>
          </p:cNvSpPr>
          <p:nvPr/>
        </p:nvSpPr>
        <p:spPr>
          <a:xfrm>
            <a:off x="4591050" y="3009992"/>
            <a:ext cx="114300" cy="180975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79D4AC1-F3BE-4739-B233-CBA07F01EDC9}"/>
              </a:ext>
            </a:extLst>
          </p:cNvPr>
          <p:cNvSpPr>
            <a:spLocks noGrp="1"/>
          </p:cNvSpPr>
          <p:nvPr/>
        </p:nvSpPr>
        <p:spPr>
          <a:xfrm>
            <a:off x="3371850" y="3210017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DDDF64A-98BB-4E07-B898-C4B10AC2BF19}"/>
              </a:ext>
            </a:extLst>
          </p:cNvPr>
          <p:cNvSpPr>
            <a:spLocks noGrp="1"/>
          </p:cNvSpPr>
          <p:nvPr/>
        </p:nvSpPr>
        <p:spPr>
          <a:xfrm>
            <a:off x="3505200" y="3333842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 dirty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Profiles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AB8A932-3F98-40CF-A068-FA606C6B0F85}"/>
              </a:ext>
            </a:extLst>
          </p:cNvPr>
          <p:cNvSpPr>
            <a:spLocks noGrp="1"/>
          </p:cNvSpPr>
          <p:nvPr/>
        </p:nvSpPr>
        <p:spPr>
          <a:xfrm>
            <a:off x="3505200" y="3676742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Identity · Region · Filter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AECB6BFE-9D50-43F8-8EB8-3911A3015684}"/>
              </a:ext>
            </a:extLst>
          </p:cNvPr>
          <p:cNvSpPr>
            <a:spLocks noGrp="1"/>
          </p:cNvSpPr>
          <p:nvPr/>
        </p:nvSpPr>
        <p:spPr>
          <a:xfrm>
            <a:off x="7353300" y="3009992"/>
            <a:ext cx="114300" cy="180975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AF5B38A-D6E3-4AB1-8EE0-ACCB87FAC754}"/>
              </a:ext>
            </a:extLst>
          </p:cNvPr>
          <p:cNvSpPr>
            <a:spLocks noGrp="1"/>
          </p:cNvSpPr>
          <p:nvPr/>
        </p:nvSpPr>
        <p:spPr>
          <a:xfrm>
            <a:off x="6134100" y="3210017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BBB5915-CAFE-4421-8DC9-9A8598B98CAD}"/>
              </a:ext>
            </a:extLst>
          </p:cNvPr>
          <p:cNvSpPr>
            <a:spLocks noGrp="1"/>
          </p:cNvSpPr>
          <p:nvPr/>
        </p:nvSpPr>
        <p:spPr>
          <a:xfrm>
            <a:off x="6267450" y="3333842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Normalized Engine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0CD221D-AA3F-47A1-B622-17A03151C2FE}"/>
              </a:ext>
            </a:extLst>
          </p:cNvPr>
          <p:cNvSpPr>
            <a:spLocks noGrp="1"/>
          </p:cNvSpPr>
          <p:nvPr/>
        </p:nvSpPr>
        <p:spPr>
          <a:xfrm>
            <a:off x="6267450" y="3676742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검증</a:t>
            </a:r>
            <a:r>
              <a:rPr lang="ko-KR" sz="1200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· </a:t>
            </a:r>
            <a:r>
              <a:rPr lang="ko-KR" sz="1200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매칭</a:t>
            </a:r>
            <a:r>
              <a:rPr lang="ko-KR" sz="1200" b="0" spc="0" dirty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 · </a:t>
            </a:r>
            <a:r>
              <a:rPr lang="ko-KR" sz="1200" b="0" spc="0" dirty="0" err="1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통계</a:t>
            </a:r>
            <a:endParaRPr lang="ko-KR" sz="1200" b="0" spc="0" dirty="0">
              <a:solidFill>
                <a:srgbClr val="444444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아래쪽 화살표 52">
            <a:extLst>
              <a:ext uri="{FF2B5EF4-FFF2-40B4-BE49-F238E27FC236}">
                <a16:creationId xmlns:a16="http://schemas.microsoft.com/office/drawing/2014/main" id="{34BCA587-3B55-4A6B-BF2B-24BE548E52FA}"/>
              </a:ext>
            </a:extLst>
          </p:cNvPr>
          <p:cNvSpPr>
            <a:spLocks noGrp="1"/>
          </p:cNvSpPr>
          <p:nvPr/>
        </p:nvSpPr>
        <p:spPr>
          <a:xfrm>
            <a:off x="10115550" y="3009992"/>
            <a:ext cx="114300" cy="180975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6CE6C65-2DE5-4B55-9778-818704CE547F}"/>
              </a:ext>
            </a:extLst>
          </p:cNvPr>
          <p:cNvSpPr>
            <a:spLocks noGrp="1"/>
          </p:cNvSpPr>
          <p:nvPr/>
        </p:nvSpPr>
        <p:spPr>
          <a:xfrm>
            <a:off x="8896350" y="3210017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48F8C77-A778-47F2-8043-617B964EA40D}"/>
              </a:ext>
            </a:extLst>
          </p:cNvPr>
          <p:cNvSpPr>
            <a:spLocks noGrp="1"/>
          </p:cNvSpPr>
          <p:nvPr/>
        </p:nvSpPr>
        <p:spPr>
          <a:xfrm>
            <a:off x="9029700" y="3333842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 dirty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Image Module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8612C6-9C5B-44CD-9607-BBDD864D2A71}"/>
              </a:ext>
            </a:extLst>
          </p:cNvPr>
          <p:cNvSpPr>
            <a:spLocks noGrp="1"/>
          </p:cNvSpPr>
          <p:nvPr/>
        </p:nvSpPr>
        <p:spPr>
          <a:xfrm>
            <a:off x="9029700" y="3676742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공통 영상 지표</a:t>
            </a:r>
          </a:p>
        </p:txBody>
      </p:sp>
      <p:sp>
        <p:nvSpPr>
          <p:cNvPr id="58" name="아래쪽 화살표 57">
            <a:extLst>
              <a:ext uri="{FF2B5EF4-FFF2-40B4-BE49-F238E27FC236}">
                <a16:creationId xmlns:a16="http://schemas.microsoft.com/office/drawing/2014/main" id="{323EE330-7ED8-44A2-ACAC-4941511923E7}"/>
              </a:ext>
            </a:extLst>
          </p:cNvPr>
          <p:cNvSpPr>
            <a:spLocks noGrp="1"/>
          </p:cNvSpPr>
          <p:nvPr/>
        </p:nvSpPr>
        <p:spPr>
          <a:xfrm>
            <a:off x="1828800" y="4067268"/>
            <a:ext cx="114300" cy="266653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7080565-8BF2-494D-A0AE-BF3208987C60}"/>
              </a:ext>
            </a:extLst>
          </p:cNvPr>
          <p:cNvSpPr>
            <a:spLocks noGrp="1"/>
          </p:cNvSpPr>
          <p:nvPr/>
        </p:nvSpPr>
        <p:spPr>
          <a:xfrm>
            <a:off x="609600" y="4352971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68E7F54-D435-4202-870E-CF5D219411A9}"/>
              </a:ext>
            </a:extLst>
          </p:cNvPr>
          <p:cNvSpPr>
            <a:spLocks noGrp="1"/>
          </p:cNvSpPr>
          <p:nvPr/>
        </p:nvSpPr>
        <p:spPr>
          <a:xfrm>
            <a:off x="742950" y="4476796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altLang="ko-KR" sz="1575" b="1" spc="0" dirty="0" err="1">
                <a:latin typeface="Malgun Gothic"/>
                <a:ea typeface="맑은 고딕"/>
                <a:cs typeface="Malgun Gothic"/>
              </a:rPr>
              <a:t>WaferDataIO</a:t>
            </a:r>
            <a:endParaRPr lang="ko-KR" sz="1575" b="1" spc="0" dirty="0">
              <a:solidFill>
                <a:srgbClr val="111111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6368DF6-31DA-42B4-AAED-9CDC2CEB95DD}"/>
              </a:ext>
            </a:extLst>
          </p:cNvPr>
          <p:cNvSpPr>
            <a:spLocks noGrp="1"/>
          </p:cNvSpPr>
          <p:nvPr/>
        </p:nvSpPr>
        <p:spPr>
          <a:xfrm>
            <a:off x="742950" y="4819696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KLARF 파서 · 공통 모델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7080565-8BF2-494D-A0AE-BF3208987C60}"/>
              </a:ext>
            </a:extLst>
          </p:cNvPr>
          <p:cNvSpPr>
            <a:spLocks noGrp="1"/>
          </p:cNvSpPr>
          <p:nvPr/>
        </p:nvSpPr>
        <p:spPr>
          <a:xfrm>
            <a:off x="8896350" y="4352971"/>
            <a:ext cx="2552700" cy="857250"/>
          </a:xfrm>
          <a:prstGeom prst="rect">
            <a:avLst/>
          </a:prstGeom>
          <a:solidFill>
            <a:srgbClr val="FAFAFA"/>
          </a:solidFill>
          <a:ln w="11430">
            <a:solidFill>
              <a:srgbClr val="DDDDDD"/>
            </a:solidFill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68E7F54-D435-4202-870E-CF5D219411A9}"/>
              </a:ext>
            </a:extLst>
          </p:cNvPr>
          <p:cNvSpPr>
            <a:spLocks noGrp="1"/>
          </p:cNvSpPr>
          <p:nvPr/>
        </p:nvSpPr>
        <p:spPr>
          <a:xfrm>
            <a:off x="9029700" y="4476796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1" spc="0" dirty="0" err="1" smtClean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OpenCV</a:t>
            </a:r>
            <a:endParaRPr lang="ko-KR" sz="1575" b="1" spc="0" dirty="0">
              <a:solidFill>
                <a:srgbClr val="111111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6368DF6-31DA-42B4-AAED-9CDC2CEB95DD}"/>
              </a:ext>
            </a:extLst>
          </p:cNvPr>
          <p:cNvSpPr>
            <a:spLocks noGrp="1"/>
          </p:cNvSpPr>
          <p:nvPr/>
        </p:nvSpPr>
        <p:spPr>
          <a:xfrm>
            <a:off x="9029700" y="4819696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2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altLang="en-US" sz="1200" spc="0" dirty="0">
                <a:latin typeface="Malgun Gothic"/>
                <a:ea typeface="맑은 고딕"/>
                <a:cs typeface="Malgun Gothic"/>
              </a:rPr>
              <a:t>영상 로드 </a:t>
            </a:r>
            <a:r>
              <a:rPr lang="ko-KR" altLang="ko-KR" sz="1200" spc="0" dirty="0">
                <a:latin typeface="Malgun Gothic"/>
                <a:ea typeface="맑은 고딕"/>
                <a:cs typeface="Malgun Gothic"/>
              </a:rPr>
              <a:t>· </a:t>
            </a:r>
            <a:r>
              <a:rPr lang="ko-KR" altLang="en-US" sz="1200" spc="0" dirty="0" smtClean="0">
                <a:latin typeface="Malgun Gothic"/>
                <a:ea typeface="맑은 고딕"/>
                <a:cs typeface="Malgun Gothic"/>
              </a:rPr>
              <a:t>측정</a:t>
            </a:r>
            <a:endParaRPr lang="ko-KR" sz="1200" b="0" spc="0" dirty="0">
              <a:solidFill>
                <a:srgbClr val="444444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5" name="아래쪽 화살표 64">
            <a:extLst>
              <a:ext uri="{FF2B5EF4-FFF2-40B4-BE49-F238E27FC236}">
                <a16:creationId xmlns:a16="http://schemas.microsoft.com/office/drawing/2014/main" id="{323EE330-7ED8-44A2-ACAC-4941511923E7}"/>
              </a:ext>
            </a:extLst>
          </p:cNvPr>
          <p:cNvSpPr>
            <a:spLocks noGrp="1"/>
          </p:cNvSpPr>
          <p:nvPr/>
        </p:nvSpPr>
        <p:spPr>
          <a:xfrm>
            <a:off x="10115550" y="4067268"/>
            <a:ext cx="114300" cy="266653"/>
          </a:xfrm>
          <a:prstGeom prst="downArrow">
            <a:avLst/>
          </a:prstGeom>
          <a:solidFill>
            <a:srgbClr val="E8000D"/>
          </a:solidFill>
          <a:ln w="0">
            <a:noFill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DDDF64A-98BB-4E07-B898-C4B10AC2BF19}"/>
              </a:ext>
            </a:extLst>
          </p:cNvPr>
          <p:cNvSpPr>
            <a:spLocks noGrp="1"/>
          </p:cNvSpPr>
          <p:nvPr/>
        </p:nvSpPr>
        <p:spPr>
          <a:xfrm>
            <a:off x="4267200" y="5767853"/>
            <a:ext cx="3543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lang="ko-KR" sz="15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altLang="en-US" sz="1575" b="1" spc="0" dirty="0">
                <a:latin typeface="Malgun Gothic"/>
                <a:ea typeface="맑은 고딕"/>
                <a:cs typeface="Malgun Gothic"/>
              </a:rPr>
              <a:t>보고서 출력</a:t>
            </a:r>
            <a:r>
              <a:rPr lang="ko-KR" altLang="ko-KR" sz="1575" b="1" spc="0" dirty="0">
                <a:latin typeface="Malgun Gothic"/>
                <a:ea typeface="맑은 고딕"/>
                <a:cs typeface="Malgun Gothic"/>
              </a:rPr>
              <a:t>: CSV · </a:t>
            </a:r>
            <a:r>
              <a:rPr lang="ko-KR" altLang="en-US" sz="1575" b="1" spc="0" dirty="0">
                <a:latin typeface="Malgun Gothic"/>
                <a:ea typeface="맑은 고딕"/>
                <a:cs typeface="Malgun Gothic"/>
              </a:rPr>
              <a:t>분석 이미지 </a:t>
            </a:r>
            <a:r>
              <a:rPr lang="ko-KR" altLang="ko-KR" sz="1575" b="1" spc="0" dirty="0">
                <a:latin typeface="Malgun Gothic"/>
                <a:ea typeface="맑은 고딕"/>
                <a:cs typeface="Malgun Gothic"/>
              </a:rPr>
              <a:t>· PDF</a:t>
            </a:r>
            <a:br>
              <a:rPr lang="ko-KR" altLang="ko-KR" sz="1575" b="1" spc="0" dirty="0">
                <a:latin typeface="Malgun Gothic"/>
                <a:ea typeface="맑은 고딕"/>
                <a:cs typeface="Malgun Gothic"/>
              </a:rPr>
            </a:br>
            <a:endParaRPr lang="ko-KR" sz="1575" b="1" spc="0" dirty="0">
              <a:solidFill>
                <a:srgbClr val="111111"/>
              </a:solidFill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</p:spTree>
    <p:extLst>
      <p:ext uri="{BB962C8B-B14F-4D97-AF65-F5344CB8AC3E}">
        <p14:creationId xmlns:p14="http://schemas.microsoft.com/office/powerpoint/2010/main" val="32539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pc="0" dirty="0" smtClean="0">
                <a:latin typeface="Malgun Gothic"/>
                <a:ea typeface="맑은 고딕"/>
                <a:cs typeface="Malgun Gothic"/>
              </a:rPr>
              <a:t>■ 3. </a:t>
            </a:r>
            <a:r>
              <a:rPr lang="ko-KR" altLang="en-US" sz="2400" b="1" spc="0" dirty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컴포넌트 </a:t>
            </a:r>
            <a:r>
              <a:rPr lang="ko-KR" altLang="en-US" sz="2400" b="1" spc="0" dirty="0" smtClean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설명</a:t>
            </a:r>
            <a:endParaRPr lang="ko-KR" altLang="en-US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fld id="{72CD3C89-AF9C-4F13-AFB1-B67825C47DCD}" type="slidenum">
              <a:rPr lang="ko-KR" spc="0" dirty="0">
                <a:latin typeface="Malgun Gothic"/>
                <a:ea typeface="맑은 고딕"/>
                <a:cs typeface="Malgun Gothic"/>
              </a:rPr>
              <a:t>5</a:t>
            </a:fld>
            <a:endParaRPr lang="ko-KR" spc="0" dirty="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88640"/>
              </p:ext>
            </p:extLst>
          </p:nvPr>
        </p:nvGraphicFramePr>
        <p:xfrm>
          <a:off x="733258" y="1149835"/>
          <a:ext cx="10715793" cy="4927878"/>
        </p:xfrm>
        <a:graphic>
          <a:graphicData uri="http://schemas.openxmlformats.org/drawingml/2006/table">
            <a:tbl>
              <a:tblPr/>
              <a:tblGrid>
                <a:gridCol w="2514767">
                  <a:extLst>
                    <a:ext uri="{9D8B030D-6E8A-4147-A177-3AD203B41FA5}">
                      <a16:colId xmlns:a16="http://schemas.microsoft.com/office/drawing/2014/main" val="3847451084"/>
                    </a:ext>
                  </a:extLst>
                </a:gridCol>
                <a:gridCol w="3990975">
                  <a:extLst>
                    <a:ext uri="{9D8B030D-6E8A-4147-A177-3AD203B41FA5}">
                      <a16:colId xmlns:a16="http://schemas.microsoft.com/office/drawing/2014/main" val="1663779785"/>
                    </a:ext>
                  </a:extLst>
                </a:gridCol>
                <a:gridCol w="4210051">
                  <a:extLst>
                    <a:ext uri="{9D8B030D-6E8A-4147-A177-3AD203B41FA5}">
                      <a16:colId xmlns:a16="http://schemas.microsoft.com/office/drawing/2014/main" val="3473929302"/>
                    </a:ext>
                  </a:extLst>
                </a:gridCol>
              </a:tblGrid>
              <a:tr h="39294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컴포넌트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책임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주 입력 → 출력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379646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 dirty="0" err="1" smtClean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Tttm.Studio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사용자 입력, 명령, 결과 바인딩, 파일 출력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사용자 선택 → AnalysisRequest / 보고서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71784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Application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 err="1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장비별 읽기·정규화 조정, 분석 실행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AnalysisRequest → AnalysisResult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69979"/>
                  </a:ext>
                </a:extLst>
              </a:tr>
              <a:tr h="3929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Infrastructure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KLARF 파서 연결, 메타데이터 추출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KLARF 경로 → KlarfDocument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680497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Profiles / Configuration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 err="1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식별자·영역·필터·좌표 정규화 정책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KlarfDocument → InspectionDataset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4691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Normalized Engine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동일 조건 검증, 영역별 결함 매칭, 통계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Dataset 목록 → AnalysisResult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88283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프로파일 서비스 / 기준 엔진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기준 모델 변환, 화면용 결과·지표 생성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Dataset 목록 → TttmAnalysisResult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344976"/>
                  </a:ext>
                </a:extLst>
              </a:tr>
              <a:tr h="6248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Metrics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공통 영상 지표, 웨이퍼 형상·프로파일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이미지 → 수치 / 그래프 / 판정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844686"/>
                  </a:ext>
                </a:extLst>
              </a:tr>
              <a:tr h="392942">
                <a:tc>
                  <a:txBody>
                    <a:bodyPr/>
                    <a:lstStyle/>
                    <a:p>
                      <a:pPr algn="l" fontAlgn="t"/>
                      <a:r>
                        <a:rPr lang="ko-KR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PDF Exporter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보고서 HTML 생성 및 Edge 인쇄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60" b="0" spc="0" dirty="0">
                          <a:effectLst/>
                          <a:latin typeface="Malgun Gothic"/>
                          <a:ea typeface="맑은 고딕"/>
                          <a:cs typeface="Malgun Gothic"/>
                        </a:rPr>
                        <a:t>기존 결과·이미지 → PDF</a:t>
                      </a:r>
                    </a:p>
                  </a:txBody>
                  <a:tcPr marL="71100" marR="71100" marT="71100" marB="71100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7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99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4. 분석 실행 시퀀스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6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1">
            <a:extLst>
              <a:ext uri="{FF2B5EF4-FFF2-40B4-BE49-F238E27FC236}">
                <a16:creationId xmlns:a16="http://schemas.microsoft.com/office/drawing/2014/main" id="{2455A0E6-320C-48F8-88B1-AB2A661F306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2">
            <a:extLst>
              <a:ext uri="{FF2B5EF4-FFF2-40B4-BE49-F238E27FC236}">
                <a16:creationId xmlns:a16="http://schemas.microsoft.com/office/drawing/2014/main" id="{1719561B-9BF3-45E2-B080-D625F0DBA0CD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화면 요청부터 기준 분석 결과 반환까지의 호출 순서</a:t>
            </a:r>
          </a:p>
        </p:txBody>
      </p:sp>
      <p:sp>
        <p:nvSpPr>
          <p:cNvPr id="102" name="element-3">
            <a:extLst>
              <a:ext uri="{FF2B5EF4-FFF2-40B4-BE49-F238E27FC236}">
                <a16:creationId xmlns:a16="http://schemas.microsoft.com/office/drawing/2014/main" id="{8C726378-7B01-40D8-977D-524AD413A011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3" name="element-4">
            <a:extLst>
              <a:ext uri="{FF2B5EF4-FFF2-40B4-BE49-F238E27FC236}">
                <a16:creationId xmlns:a16="http://schemas.microsoft.com/office/drawing/2014/main" id="{9EE13A45-9203-4462-AAEA-8D9AFF29CFEB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ViewModel</a:t>
            </a:r>
          </a:p>
        </p:txBody>
      </p:sp>
      <p:sp>
        <p:nvSpPr>
          <p:cNvPr id="104" name="element-5">
            <a:extLst>
              <a:ext uri="{FF2B5EF4-FFF2-40B4-BE49-F238E27FC236}">
                <a16:creationId xmlns:a16="http://schemas.microsoft.com/office/drawing/2014/main" id="{E910A6D7-7A38-4233-9F6D-C230876FF0EA}"/>
              </a:ext>
            </a:extLst>
          </p:cNvPr>
          <p:cNvSpPr>
            <a:spLocks noGrp="1"/>
          </p:cNvSpPr>
          <p:nvPr/>
        </p:nvSpPr>
        <p:spPr>
          <a:xfrm>
            <a:off x="628650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화면·분석 요청</a:t>
            </a:r>
          </a:p>
        </p:txBody>
      </p:sp>
      <p:sp>
        <p:nvSpPr>
          <p:cNvPr id="105" name="element-6">
            <a:extLst>
              <a:ext uri="{FF2B5EF4-FFF2-40B4-BE49-F238E27FC236}">
                <a16:creationId xmlns:a16="http://schemas.microsoft.com/office/drawing/2014/main" id="{B29A529C-D5DD-458E-96F8-C05D419AEBAD}"/>
              </a:ext>
            </a:extLst>
          </p:cNvPr>
          <p:cNvSpPr>
            <a:spLocks noGrp="1"/>
          </p:cNvSpPr>
          <p:nvPr/>
        </p:nvSpPr>
        <p:spPr>
          <a:xfrm>
            <a:off x="1638300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06" name="element-7">
            <a:extLst>
              <a:ext uri="{FF2B5EF4-FFF2-40B4-BE49-F238E27FC236}">
                <a16:creationId xmlns:a16="http://schemas.microsoft.com/office/drawing/2014/main" id="{090A25DA-A36F-477C-966D-D29845AFA327}"/>
              </a:ext>
            </a:extLst>
          </p:cNvPr>
          <p:cNvSpPr>
            <a:spLocks noGrp="1"/>
          </p:cNvSpPr>
          <p:nvPr/>
        </p:nvSpPr>
        <p:spPr>
          <a:xfrm>
            <a:off x="3457575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7" name="element-8">
            <a:extLst>
              <a:ext uri="{FF2B5EF4-FFF2-40B4-BE49-F238E27FC236}">
                <a16:creationId xmlns:a16="http://schemas.microsoft.com/office/drawing/2014/main" id="{00BDE777-68AF-4A57-8742-06E5A2A72734}"/>
              </a:ext>
            </a:extLst>
          </p:cNvPr>
          <p:cNvSpPr>
            <a:spLocks noGrp="1"/>
          </p:cNvSpPr>
          <p:nvPr/>
        </p:nvSpPr>
        <p:spPr>
          <a:xfrm>
            <a:off x="3514725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Profiled Service</a:t>
            </a:r>
          </a:p>
        </p:txBody>
      </p:sp>
      <p:sp>
        <p:nvSpPr>
          <p:cNvPr id="108" name="element-9">
            <a:extLst>
              <a:ext uri="{FF2B5EF4-FFF2-40B4-BE49-F238E27FC236}">
                <a16:creationId xmlns:a16="http://schemas.microsoft.com/office/drawing/2014/main" id="{4E97BBB3-83A4-4C4A-A08E-988336CAFA49}"/>
              </a:ext>
            </a:extLst>
          </p:cNvPr>
          <p:cNvSpPr>
            <a:spLocks noGrp="1"/>
          </p:cNvSpPr>
          <p:nvPr/>
        </p:nvSpPr>
        <p:spPr>
          <a:xfrm>
            <a:off x="3514725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ProfiledTttmAnalysisService</a:t>
            </a:r>
          </a:p>
        </p:txBody>
      </p:sp>
      <p:sp>
        <p:nvSpPr>
          <p:cNvPr id="109" name="element-10">
            <a:extLst>
              <a:ext uri="{FF2B5EF4-FFF2-40B4-BE49-F238E27FC236}">
                <a16:creationId xmlns:a16="http://schemas.microsoft.com/office/drawing/2014/main" id="{C36FEC31-B41B-4213-8CBB-7CCA24B1AC43}"/>
              </a:ext>
            </a:extLst>
          </p:cNvPr>
          <p:cNvSpPr>
            <a:spLocks noGrp="1"/>
          </p:cNvSpPr>
          <p:nvPr/>
        </p:nvSpPr>
        <p:spPr>
          <a:xfrm>
            <a:off x="4524375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0" name="element-11">
            <a:extLst>
              <a:ext uri="{FF2B5EF4-FFF2-40B4-BE49-F238E27FC236}">
                <a16:creationId xmlns:a16="http://schemas.microsoft.com/office/drawing/2014/main" id="{5324A04C-C7E6-48E7-843C-7650B59BA912}"/>
              </a:ext>
            </a:extLst>
          </p:cNvPr>
          <p:cNvSpPr>
            <a:spLocks noGrp="1"/>
          </p:cNvSpPr>
          <p:nvPr/>
        </p:nvSpPr>
        <p:spPr>
          <a:xfrm>
            <a:off x="6343650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1" name="element-12">
            <a:extLst>
              <a:ext uri="{FF2B5EF4-FFF2-40B4-BE49-F238E27FC236}">
                <a16:creationId xmlns:a16="http://schemas.microsoft.com/office/drawing/2014/main" id="{998D18CB-D2BC-4AB7-9B60-B7A049C12AB3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Application Service</a:t>
            </a:r>
          </a:p>
        </p:txBody>
      </p:sp>
      <p:sp>
        <p:nvSpPr>
          <p:cNvPr id="112" name="element-13">
            <a:extLst>
              <a:ext uri="{FF2B5EF4-FFF2-40B4-BE49-F238E27FC236}">
                <a16:creationId xmlns:a16="http://schemas.microsoft.com/office/drawing/2014/main" id="{FF7EF86F-8223-4340-9299-E5E287019F56}"/>
              </a:ext>
            </a:extLst>
          </p:cNvPr>
          <p:cNvSpPr>
            <a:spLocks noGrp="1"/>
          </p:cNvSpPr>
          <p:nvPr/>
        </p:nvSpPr>
        <p:spPr>
          <a:xfrm>
            <a:off x="6400800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읽기·정규화·분석 조정</a:t>
            </a:r>
          </a:p>
        </p:txBody>
      </p:sp>
      <p:sp>
        <p:nvSpPr>
          <p:cNvPr id="113" name="element-14">
            <a:extLst>
              <a:ext uri="{FF2B5EF4-FFF2-40B4-BE49-F238E27FC236}">
                <a16:creationId xmlns:a16="http://schemas.microsoft.com/office/drawing/2014/main" id="{A23FD687-AF8E-48F5-8DF1-1D10BB89FF12}"/>
              </a:ext>
            </a:extLst>
          </p:cNvPr>
          <p:cNvSpPr>
            <a:spLocks noGrp="1"/>
          </p:cNvSpPr>
          <p:nvPr/>
        </p:nvSpPr>
        <p:spPr>
          <a:xfrm>
            <a:off x="7410450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4" name="element-15">
            <a:extLst>
              <a:ext uri="{FF2B5EF4-FFF2-40B4-BE49-F238E27FC236}">
                <a16:creationId xmlns:a16="http://schemas.microsoft.com/office/drawing/2014/main" id="{F5ED5553-6A63-49F3-8A80-FF87EE38AD00}"/>
              </a:ext>
            </a:extLst>
          </p:cNvPr>
          <p:cNvSpPr>
            <a:spLocks noGrp="1"/>
          </p:cNvSpPr>
          <p:nvPr/>
        </p:nvSpPr>
        <p:spPr>
          <a:xfrm>
            <a:off x="9229725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5" name="element-16">
            <a:extLst>
              <a:ext uri="{FF2B5EF4-FFF2-40B4-BE49-F238E27FC236}">
                <a16:creationId xmlns:a16="http://schemas.microsoft.com/office/drawing/2014/main" id="{9B73CE3C-E462-4B6C-9F34-71FBD9455FCD}"/>
              </a:ext>
            </a:extLst>
          </p:cNvPr>
          <p:cNvSpPr>
            <a:spLocks noGrp="1"/>
          </p:cNvSpPr>
          <p:nvPr/>
        </p:nvSpPr>
        <p:spPr>
          <a:xfrm>
            <a:off x="9286875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기준 분석 엔진</a:t>
            </a:r>
          </a:p>
        </p:txBody>
      </p:sp>
      <p:sp>
        <p:nvSpPr>
          <p:cNvPr id="116" name="element-17">
            <a:extLst>
              <a:ext uri="{FF2B5EF4-FFF2-40B4-BE49-F238E27FC236}">
                <a16:creationId xmlns:a16="http://schemas.microsoft.com/office/drawing/2014/main" id="{537B2EB6-9D1D-4E33-878D-B7FB30B22C25}"/>
              </a:ext>
            </a:extLst>
          </p:cNvPr>
          <p:cNvSpPr>
            <a:spLocks noGrp="1"/>
          </p:cNvSpPr>
          <p:nvPr/>
        </p:nvSpPr>
        <p:spPr>
          <a:xfrm>
            <a:off x="9286875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TttmAnalysisEngine</a:t>
            </a:r>
          </a:p>
        </p:txBody>
      </p:sp>
      <p:sp>
        <p:nvSpPr>
          <p:cNvPr id="117" name="element-18">
            <a:extLst>
              <a:ext uri="{FF2B5EF4-FFF2-40B4-BE49-F238E27FC236}">
                <a16:creationId xmlns:a16="http://schemas.microsoft.com/office/drawing/2014/main" id="{2BD9A130-AA19-4488-8631-3D9F211E179D}"/>
              </a:ext>
            </a:extLst>
          </p:cNvPr>
          <p:cNvSpPr>
            <a:spLocks noGrp="1"/>
          </p:cNvSpPr>
          <p:nvPr/>
        </p:nvSpPr>
        <p:spPr>
          <a:xfrm>
            <a:off x="10296525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8" name="element-19">
            <a:extLst>
              <a:ext uri="{FF2B5EF4-FFF2-40B4-BE49-F238E27FC236}">
                <a16:creationId xmlns:a16="http://schemas.microsoft.com/office/drawing/2014/main" id="{84FE1427-9D1A-49E2-88FC-C662F870C907}"/>
              </a:ext>
            </a:extLst>
          </p:cNvPr>
          <p:cNvSpPr>
            <a:spLocks noGrp="1"/>
          </p:cNvSpPr>
          <p:nvPr/>
        </p:nvSpPr>
        <p:spPr>
          <a:xfrm>
            <a:off x="1633538" y="2643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9" name="element-20">
            <a:extLst>
              <a:ext uri="{FF2B5EF4-FFF2-40B4-BE49-F238E27FC236}">
                <a16:creationId xmlns:a16="http://schemas.microsoft.com/office/drawing/2014/main" id="{62B9FDD9-BCAA-4142-90B9-02AEBE76AB9A}"/>
              </a:ext>
            </a:extLst>
          </p:cNvPr>
          <p:cNvSpPr>
            <a:spLocks noGrp="1"/>
          </p:cNvSpPr>
          <p:nvPr/>
        </p:nvSpPr>
        <p:spPr>
          <a:xfrm>
            <a:off x="4519613" y="2643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0" name="직선 화살표 연결선 119"/>
          <p:cNvCxnSpPr>
            <a:stCxn id="118" idx="3"/>
            <a:endCxn id="119" idx="1"/>
          </p:cNvCxnSpPr>
          <p:nvPr/>
        </p:nvCxnSpPr>
        <p:spPr>
          <a:xfrm>
            <a:off x="1643063" y="2647951"/>
            <a:ext cx="2876550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21" name="element-21">
            <a:extLst>
              <a:ext uri="{FF2B5EF4-FFF2-40B4-BE49-F238E27FC236}">
                <a16:creationId xmlns:a16="http://schemas.microsoft.com/office/drawing/2014/main" id="{D9C18A4F-2B74-47F6-8BB7-88F55A80E0FC}"/>
              </a:ext>
            </a:extLst>
          </p:cNvPr>
          <p:cNvSpPr>
            <a:spLocks noGrp="1"/>
          </p:cNvSpPr>
          <p:nvPr/>
        </p:nvSpPr>
        <p:spPr>
          <a:xfrm>
            <a:off x="1733550" y="24003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① Analyze(request)</a:t>
            </a:r>
          </a:p>
        </p:txBody>
      </p:sp>
      <p:sp>
        <p:nvSpPr>
          <p:cNvPr id="122" name="element-22">
            <a:extLst>
              <a:ext uri="{FF2B5EF4-FFF2-40B4-BE49-F238E27FC236}">
                <a16:creationId xmlns:a16="http://schemas.microsoft.com/office/drawing/2014/main" id="{E04EA454-64AD-4873-A9B7-5500EB08C3BF}"/>
              </a:ext>
            </a:extLst>
          </p:cNvPr>
          <p:cNvSpPr>
            <a:spLocks noGrp="1"/>
          </p:cNvSpPr>
          <p:nvPr/>
        </p:nvSpPr>
        <p:spPr>
          <a:xfrm>
            <a:off x="4519613" y="3119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element-23">
            <a:extLst>
              <a:ext uri="{FF2B5EF4-FFF2-40B4-BE49-F238E27FC236}">
                <a16:creationId xmlns:a16="http://schemas.microsoft.com/office/drawing/2014/main" id="{E99CE558-46CA-4325-8600-13E60CE25EE4}"/>
              </a:ext>
            </a:extLst>
          </p:cNvPr>
          <p:cNvSpPr>
            <a:spLocks noGrp="1"/>
          </p:cNvSpPr>
          <p:nvPr/>
        </p:nvSpPr>
        <p:spPr>
          <a:xfrm>
            <a:off x="7405688" y="3119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4" name="직선 화살표 연결선 123"/>
          <p:cNvCxnSpPr>
            <a:stCxn id="122" idx="3"/>
            <a:endCxn id="123" idx="1"/>
          </p:cNvCxnSpPr>
          <p:nvPr/>
        </p:nvCxnSpPr>
        <p:spPr>
          <a:xfrm>
            <a:off x="4529138" y="3124201"/>
            <a:ext cx="2876550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25" name="element-24">
            <a:extLst>
              <a:ext uri="{FF2B5EF4-FFF2-40B4-BE49-F238E27FC236}">
                <a16:creationId xmlns:a16="http://schemas.microsoft.com/office/drawing/2014/main" id="{AC4B2C88-DA35-4A70-9C80-29C3131E6C02}"/>
              </a:ext>
            </a:extLst>
          </p:cNvPr>
          <p:cNvSpPr>
            <a:spLocks noGrp="1"/>
          </p:cNvSpPr>
          <p:nvPr/>
        </p:nvSpPr>
        <p:spPr>
          <a:xfrm>
            <a:off x="4619625" y="28765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② Analyze(request)</a:t>
            </a:r>
          </a:p>
        </p:txBody>
      </p:sp>
      <p:sp>
        <p:nvSpPr>
          <p:cNvPr id="126" name="element-25">
            <a:extLst>
              <a:ext uri="{FF2B5EF4-FFF2-40B4-BE49-F238E27FC236}">
                <a16:creationId xmlns:a16="http://schemas.microsoft.com/office/drawing/2014/main" id="{9954CA0F-B878-465E-9335-BF91965483E3}"/>
              </a:ext>
            </a:extLst>
          </p:cNvPr>
          <p:cNvSpPr>
            <a:spLocks noGrp="1"/>
          </p:cNvSpPr>
          <p:nvPr/>
        </p:nvSpPr>
        <p:spPr>
          <a:xfrm>
            <a:off x="7405688" y="35956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7" name="element-26">
            <a:extLst>
              <a:ext uri="{FF2B5EF4-FFF2-40B4-BE49-F238E27FC236}">
                <a16:creationId xmlns:a16="http://schemas.microsoft.com/office/drawing/2014/main" id="{CA335D68-6078-4206-9E4F-C5E423DEE013}"/>
              </a:ext>
            </a:extLst>
          </p:cNvPr>
          <p:cNvSpPr>
            <a:spLocks noGrp="1"/>
          </p:cNvSpPr>
          <p:nvPr/>
        </p:nvSpPr>
        <p:spPr>
          <a:xfrm>
            <a:off x="4519613" y="35956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8" name="직선 화살표 연결선 127"/>
          <p:cNvCxnSpPr>
            <a:stCxn id="126" idx="1"/>
            <a:endCxn id="127" idx="3"/>
          </p:cNvCxnSpPr>
          <p:nvPr/>
        </p:nvCxnSpPr>
        <p:spPr>
          <a:xfrm flipH="1">
            <a:off x="4529138" y="3600451"/>
            <a:ext cx="2876550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29" name="element-27">
            <a:extLst>
              <a:ext uri="{FF2B5EF4-FFF2-40B4-BE49-F238E27FC236}">
                <a16:creationId xmlns:a16="http://schemas.microsoft.com/office/drawing/2014/main" id="{79FC077D-48BA-4AA6-9F26-013DE8B4CA9A}"/>
              </a:ext>
            </a:extLst>
          </p:cNvPr>
          <p:cNvSpPr>
            <a:spLocks noGrp="1"/>
          </p:cNvSpPr>
          <p:nvPr/>
        </p:nvSpPr>
        <p:spPr>
          <a:xfrm>
            <a:off x="4619625" y="33528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③ AnalysisResult 반환</a:t>
            </a:r>
          </a:p>
        </p:txBody>
      </p:sp>
      <p:sp>
        <p:nvSpPr>
          <p:cNvPr id="130" name="element-28">
            <a:extLst>
              <a:ext uri="{FF2B5EF4-FFF2-40B4-BE49-F238E27FC236}">
                <a16:creationId xmlns:a16="http://schemas.microsoft.com/office/drawing/2014/main" id="{E19C7FE4-09B8-4D27-9F6E-A2F5FB2BC80A}"/>
              </a:ext>
            </a:extLst>
          </p:cNvPr>
          <p:cNvSpPr>
            <a:spLocks noGrp="1"/>
          </p:cNvSpPr>
          <p:nvPr/>
        </p:nvSpPr>
        <p:spPr>
          <a:xfrm>
            <a:off x="3467100" y="3771900"/>
            <a:ext cx="2133600" cy="371475"/>
          </a:xfrm>
          <a:prstGeom prst="rect">
            <a:avLst/>
          </a:prstGeom>
          <a:solidFill>
            <a:srgbClr val="FFF6EC"/>
          </a:solidFill>
          <a:ln w="7620">
            <a:solidFill>
              <a:srgbClr val="F1D4BB"/>
            </a:solidFill>
            <a:prstDash val="solid"/>
          </a:ln>
        </p:spPr>
      </p:sp>
      <p:sp>
        <p:nvSpPr>
          <p:cNvPr id="131" name="element-29">
            <a:extLst>
              <a:ext uri="{FF2B5EF4-FFF2-40B4-BE49-F238E27FC236}">
                <a16:creationId xmlns:a16="http://schemas.microsoft.com/office/drawing/2014/main" id="{074AA4D6-35B0-40A7-8608-C5B73C0CEA0E}"/>
              </a:ext>
            </a:extLst>
          </p:cNvPr>
          <p:cNvSpPr>
            <a:spLocks noGrp="1"/>
          </p:cNvSpPr>
          <p:nvPr/>
        </p:nvSpPr>
        <p:spPr>
          <a:xfrm>
            <a:off x="3581400" y="3848100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④ ToEquipmentData 변환</a:t>
            </a:r>
          </a:p>
        </p:txBody>
      </p:sp>
      <p:sp>
        <p:nvSpPr>
          <p:cNvPr id="132" name="element-30">
            <a:extLst>
              <a:ext uri="{FF2B5EF4-FFF2-40B4-BE49-F238E27FC236}">
                <a16:creationId xmlns:a16="http://schemas.microsoft.com/office/drawing/2014/main" id="{FC2FB515-AC3A-485C-BB3F-6FA069EA5304}"/>
              </a:ext>
            </a:extLst>
          </p:cNvPr>
          <p:cNvSpPr>
            <a:spLocks noGrp="1"/>
          </p:cNvSpPr>
          <p:nvPr/>
        </p:nvSpPr>
        <p:spPr>
          <a:xfrm>
            <a:off x="4519613" y="44338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3" name="element-31">
            <a:extLst>
              <a:ext uri="{FF2B5EF4-FFF2-40B4-BE49-F238E27FC236}">
                <a16:creationId xmlns:a16="http://schemas.microsoft.com/office/drawing/2014/main" id="{DCE7AA23-FC85-436A-AB96-4992A0EAC2D0}"/>
              </a:ext>
            </a:extLst>
          </p:cNvPr>
          <p:cNvSpPr>
            <a:spLocks noGrp="1"/>
          </p:cNvSpPr>
          <p:nvPr/>
        </p:nvSpPr>
        <p:spPr>
          <a:xfrm>
            <a:off x="10291763" y="44338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4" name="직선 화살표 연결선 133"/>
          <p:cNvCxnSpPr>
            <a:stCxn id="132" idx="3"/>
            <a:endCxn id="133" idx="1"/>
          </p:cNvCxnSpPr>
          <p:nvPr/>
        </p:nvCxnSpPr>
        <p:spPr>
          <a:xfrm>
            <a:off x="4529138" y="4438651"/>
            <a:ext cx="5762625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35" name="element-32">
            <a:extLst>
              <a:ext uri="{FF2B5EF4-FFF2-40B4-BE49-F238E27FC236}">
                <a16:creationId xmlns:a16="http://schemas.microsoft.com/office/drawing/2014/main" id="{6C7F9E36-7812-40F9-88DE-993C34617F73}"/>
              </a:ext>
            </a:extLst>
          </p:cNvPr>
          <p:cNvSpPr>
            <a:spLocks noGrp="1"/>
          </p:cNvSpPr>
          <p:nvPr/>
        </p:nvSpPr>
        <p:spPr>
          <a:xfrm>
            <a:off x="4619625" y="4191000"/>
            <a:ext cx="558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⑤ Analyze(equipmentData, 공차, 기준 장비)</a:t>
            </a:r>
          </a:p>
        </p:txBody>
      </p:sp>
      <p:sp>
        <p:nvSpPr>
          <p:cNvPr id="136" name="element-33">
            <a:extLst>
              <a:ext uri="{FF2B5EF4-FFF2-40B4-BE49-F238E27FC236}">
                <a16:creationId xmlns:a16="http://schemas.microsoft.com/office/drawing/2014/main" id="{83660605-9B37-4A1D-A981-B7B671EE4554}"/>
              </a:ext>
            </a:extLst>
          </p:cNvPr>
          <p:cNvSpPr>
            <a:spLocks noGrp="1"/>
          </p:cNvSpPr>
          <p:nvPr/>
        </p:nvSpPr>
        <p:spPr>
          <a:xfrm>
            <a:off x="10291763" y="4910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7" name="element-34">
            <a:extLst>
              <a:ext uri="{FF2B5EF4-FFF2-40B4-BE49-F238E27FC236}">
                <a16:creationId xmlns:a16="http://schemas.microsoft.com/office/drawing/2014/main" id="{BA45F982-F73A-4459-A0A2-96347F5872EC}"/>
              </a:ext>
            </a:extLst>
          </p:cNvPr>
          <p:cNvSpPr>
            <a:spLocks noGrp="1"/>
          </p:cNvSpPr>
          <p:nvPr/>
        </p:nvSpPr>
        <p:spPr>
          <a:xfrm>
            <a:off x="4519613" y="4910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8" name="직선 화살표 연결선 137"/>
          <p:cNvCxnSpPr>
            <a:stCxn id="136" idx="1"/>
            <a:endCxn id="137" idx="3"/>
          </p:cNvCxnSpPr>
          <p:nvPr/>
        </p:nvCxnSpPr>
        <p:spPr>
          <a:xfrm flipH="1">
            <a:off x="4529138" y="4914901"/>
            <a:ext cx="5762625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39" name="element-35">
            <a:extLst>
              <a:ext uri="{FF2B5EF4-FFF2-40B4-BE49-F238E27FC236}">
                <a16:creationId xmlns:a16="http://schemas.microsoft.com/office/drawing/2014/main" id="{DF09FA11-47BF-42D9-A06C-5E177EB24753}"/>
              </a:ext>
            </a:extLst>
          </p:cNvPr>
          <p:cNvSpPr>
            <a:spLocks noGrp="1"/>
          </p:cNvSpPr>
          <p:nvPr/>
        </p:nvSpPr>
        <p:spPr>
          <a:xfrm>
            <a:off x="4619625" y="4667250"/>
            <a:ext cx="558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⑥ TttmAnalysisResult 반환</a:t>
            </a:r>
          </a:p>
        </p:txBody>
      </p:sp>
      <p:sp>
        <p:nvSpPr>
          <p:cNvPr id="140" name="element-36">
            <a:extLst>
              <a:ext uri="{FF2B5EF4-FFF2-40B4-BE49-F238E27FC236}">
                <a16:creationId xmlns:a16="http://schemas.microsoft.com/office/drawing/2014/main" id="{638EC702-D91F-40D7-9569-2E2729893869}"/>
              </a:ext>
            </a:extLst>
          </p:cNvPr>
          <p:cNvSpPr>
            <a:spLocks noGrp="1"/>
          </p:cNvSpPr>
          <p:nvPr/>
        </p:nvSpPr>
        <p:spPr>
          <a:xfrm>
            <a:off x="4519613" y="5405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1" name="element-37">
            <a:extLst>
              <a:ext uri="{FF2B5EF4-FFF2-40B4-BE49-F238E27FC236}">
                <a16:creationId xmlns:a16="http://schemas.microsoft.com/office/drawing/2014/main" id="{9D133E91-B07B-4EEE-8F1E-EC62C90E1D56}"/>
              </a:ext>
            </a:extLst>
          </p:cNvPr>
          <p:cNvSpPr>
            <a:spLocks noGrp="1"/>
          </p:cNvSpPr>
          <p:nvPr/>
        </p:nvSpPr>
        <p:spPr>
          <a:xfrm>
            <a:off x="1633538" y="5405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2" name="직선 화살표 연결선 141"/>
          <p:cNvCxnSpPr>
            <a:stCxn id="140" idx="1"/>
            <a:endCxn id="141" idx="3"/>
          </p:cNvCxnSpPr>
          <p:nvPr/>
        </p:nvCxnSpPr>
        <p:spPr>
          <a:xfrm flipH="1">
            <a:off x="1643063" y="5410201"/>
            <a:ext cx="2876550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43" name="element-38">
            <a:extLst>
              <a:ext uri="{FF2B5EF4-FFF2-40B4-BE49-F238E27FC236}">
                <a16:creationId xmlns:a16="http://schemas.microsoft.com/office/drawing/2014/main" id="{E9EE22E3-BAA4-406F-A987-33E5D12F44C6}"/>
              </a:ext>
            </a:extLst>
          </p:cNvPr>
          <p:cNvSpPr>
            <a:spLocks noGrp="1"/>
          </p:cNvSpPr>
          <p:nvPr/>
        </p:nvSpPr>
        <p:spPr>
          <a:xfrm>
            <a:off x="1733550" y="51625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⑦ 최종 결과 반환</a:t>
            </a:r>
          </a:p>
        </p:txBody>
      </p:sp>
      <p:sp>
        <p:nvSpPr>
          <p:cNvPr id="144" name="element-39">
            <a:extLst>
              <a:ext uri="{FF2B5EF4-FFF2-40B4-BE49-F238E27FC236}">
                <a16:creationId xmlns:a16="http://schemas.microsoft.com/office/drawing/2014/main" id="{7D1DCC0B-F5A5-45EE-B0CD-431F3025FB8F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Task.Run으로 분석 실행  /  await 완료 후 화면 갱신  /  빨강: 호출, 파랑 점선: 반환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5. 입력 정규화 시퀀스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7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40">
            <a:extLst>
              <a:ext uri="{FF2B5EF4-FFF2-40B4-BE49-F238E27FC236}">
                <a16:creationId xmlns:a16="http://schemas.microsoft.com/office/drawing/2014/main" id="{53838E2B-1CC6-4518-AE2A-C05CB2FD6522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41">
            <a:extLst>
              <a:ext uri="{FF2B5EF4-FFF2-40B4-BE49-F238E27FC236}">
                <a16:creationId xmlns:a16="http://schemas.microsoft.com/office/drawing/2014/main" id="{8B8FD41D-2853-483D-B465-83D7B2CF862E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장비별 KLARF를 공통 좌표와 영역으로 정규화한 뒤 매칭 실행</a:t>
            </a:r>
          </a:p>
        </p:txBody>
      </p:sp>
      <p:sp>
        <p:nvSpPr>
          <p:cNvPr id="102" name="element-42">
            <a:extLst>
              <a:ext uri="{FF2B5EF4-FFF2-40B4-BE49-F238E27FC236}">
                <a16:creationId xmlns:a16="http://schemas.microsoft.com/office/drawing/2014/main" id="{2834D2A8-396B-47AF-9770-5155D856A001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3" name="element-43">
            <a:extLst>
              <a:ext uri="{FF2B5EF4-FFF2-40B4-BE49-F238E27FC236}">
                <a16:creationId xmlns:a16="http://schemas.microsoft.com/office/drawing/2014/main" id="{698E979F-3D0F-4695-A2AA-226BDD071D70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Application Service</a:t>
            </a:r>
          </a:p>
        </p:txBody>
      </p:sp>
      <p:sp>
        <p:nvSpPr>
          <p:cNvPr id="104" name="element-44">
            <a:extLst>
              <a:ext uri="{FF2B5EF4-FFF2-40B4-BE49-F238E27FC236}">
                <a16:creationId xmlns:a16="http://schemas.microsoft.com/office/drawing/2014/main" id="{FD6CE845-917C-47A4-95BE-F58B507186CD}"/>
              </a:ext>
            </a:extLst>
          </p:cNvPr>
          <p:cNvSpPr>
            <a:spLocks noGrp="1"/>
          </p:cNvSpPr>
          <p:nvPr/>
        </p:nvSpPr>
        <p:spPr>
          <a:xfrm>
            <a:off x="628650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처리 순서 조정</a:t>
            </a:r>
          </a:p>
        </p:txBody>
      </p:sp>
      <p:sp>
        <p:nvSpPr>
          <p:cNvPr id="105" name="element-45">
            <a:extLst>
              <a:ext uri="{FF2B5EF4-FFF2-40B4-BE49-F238E27FC236}">
                <a16:creationId xmlns:a16="http://schemas.microsoft.com/office/drawing/2014/main" id="{584FDDB9-D8D6-48B1-9AD7-57F474345257}"/>
              </a:ext>
            </a:extLst>
          </p:cNvPr>
          <p:cNvSpPr>
            <a:spLocks noGrp="1"/>
          </p:cNvSpPr>
          <p:nvPr/>
        </p:nvSpPr>
        <p:spPr>
          <a:xfrm>
            <a:off x="1638300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06" name="element-46">
            <a:extLst>
              <a:ext uri="{FF2B5EF4-FFF2-40B4-BE49-F238E27FC236}">
                <a16:creationId xmlns:a16="http://schemas.microsoft.com/office/drawing/2014/main" id="{A0BBD3B3-49DD-4307-BC2A-258082F48EEE}"/>
              </a:ext>
            </a:extLst>
          </p:cNvPr>
          <p:cNvSpPr>
            <a:spLocks noGrp="1"/>
          </p:cNvSpPr>
          <p:nvPr/>
        </p:nvSpPr>
        <p:spPr>
          <a:xfrm>
            <a:off x="3457575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7" name="element-47">
            <a:extLst>
              <a:ext uri="{FF2B5EF4-FFF2-40B4-BE49-F238E27FC236}">
                <a16:creationId xmlns:a16="http://schemas.microsoft.com/office/drawing/2014/main" id="{EC6E70C8-6C8F-4948-9D89-C83DAC5CF45A}"/>
              </a:ext>
            </a:extLst>
          </p:cNvPr>
          <p:cNvSpPr>
            <a:spLocks noGrp="1"/>
          </p:cNvSpPr>
          <p:nvPr/>
        </p:nvSpPr>
        <p:spPr>
          <a:xfrm>
            <a:off x="3514725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KlarfReaderAdapter</a:t>
            </a:r>
          </a:p>
        </p:txBody>
      </p:sp>
      <p:sp>
        <p:nvSpPr>
          <p:cNvPr id="108" name="element-48">
            <a:extLst>
              <a:ext uri="{FF2B5EF4-FFF2-40B4-BE49-F238E27FC236}">
                <a16:creationId xmlns:a16="http://schemas.microsoft.com/office/drawing/2014/main" id="{DCB287D7-BAD0-4F6D-931D-8103CED3E835}"/>
              </a:ext>
            </a:extLst>
          </p:cNvPr>
          <p:cNvSpPr>
            <a:spLocks noGrp="1"/>
          </p:cNvSpPr>
          <p:nvPr/>
        </p:nvSpPr>
        <p:spPr>
          <a:xfrm>
            <a:off x="3514725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파일 읽기</a:t>
            </a:r>
          </a:p>
        </p:txBody>
      </p:sp>
      <p:sp>
        <p:nvSpPr>
          <p:cNvPr id="109" name="element-49">
            <a:extLst>
              <a:ext uri="{FF2B5EF4-FFF2-40B4-BE49-F238E27FC236}">
                <a16:creationId xmlns:a16="http://schemas.microsoft.com/office/drawing/2014/main" id="{C58058EF-E5EB-41E3-951D-2FAD657FD1D2}"/>
              </a:ext>
            </a:extLst>
          </p:cNvPr>
          <p:cNvSpPr>
            <a:spLocks noGrp="1"/>
          </p:cNvSpPr>
          <p:nvPr/>
        </p:nvSpPr>
        <p:spPr>
          <a:xfrm>
            <a:off x="4524375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0" name="element-50">
            <a:extLst>
              <a:ext uri="{FF2B5EF4-FFF2-40B4-BE49-F238E27FC236}">
                <a16:creationId xmlns:a16="http://schemas.microsoft.com/office/drawing/2014/main" id="{2AFD6966-4A8D-45D8-914A-97177F8995F8}"/>
              </a:ext>
            </a:extLst>
          </p:cNvPr>
          <p:cNvSpPr>
            <a:spLocks noGrp="1"/>
          </p:cNvSpPr>
          <p:nvPr/>
        </p:nvSpPr>
        <p:spPr>
          <a:xfrm>
            <a:off x="6343650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1" name="element-51">
            <a:extLst>
              <a:ext uri="{FF2B5EF4-FFF2-40B4-BE49-F238E27FC236}">
                <a16:creationId xmlns:a16="http://schemas.microsoft.com/office/drawing/2014/main" id="{7F753FD5-7104-452B-8141-BA7DB55523BB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Inspection Profile</a:t>
            </a:r>
          </a:p>
        </p:txBody>
      </p:sp>
      <p:sp>
        <p:nvSpPr>
          <p:cNvPr id="112" name="element-52">
            <a:extLst>
              <a:ext uri="{FF2B5EF4-FFF2-40B4-BE49-F238E27FC236}">
                <a16:creationId xmlns:a16="http://schemas.microsoft.com/office/drawing/2014/main" id="{354F0F19-E00B-4016-9A11-D8F8A92846D8}"/>
              </a:ext>
            </a:extLst>
          </p:cNvPr>
          <p:cNvSpPr>
            <a:spLocks noGrp="1"/>
          </p:cNvSpPr>
          <p:nvPr/>
        </p:nvSpPr>
        <p:spPr>
          <a:xfrm>
            <a:off x="6400800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제품별 정규화</a:t>
            </a:r>
          </a:p>
        </p:txBody>
      </p:sp>
      <p:sp>
        <p:nvSpPr>
          <p:cNvPr id="113" name="element-53">
            <a:extLst>
              <a:ext uri="{FF2B5EF4-FFF2-40B4-BE49-F238E27FC236}">
                <a16:creationId xmlns:a16="http://schemas.microsoft.com/office/drawing/2014/main" id="{11294461-6D4C-4A8F-811F-F132DCE07087}"/>
              </a:ext>
            </a:extLst>
          </p:cNvPr>
          <p:cNvSpPr>
            <a:spLocks noGrp="1"/>
          </p:cNvSpPr>
          <p:nvPr/>
        </p:nvSpPr>
        <p:spPr>
          <a:xfrm>
            <a:off x="7410450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4" name="element-54">
            <a:extLst>
              <a:ext uri="{FF2B5EF4-FFF2-40B4-BE49-F238E27FC236}">
                <a16:creationId xmlns:a16="http://schemas.microsoft.com/office/drawing/2014/main" id="{21388491-4A88-4D43-BF94-DB62E50C127B}"/>
              </a:ext>
            </a:extLst>
          </p:cNvPr>
          <p:cNvSpPr>
            <a:spLocks noGrp="1"/>
          </p:cNvSpPr>
          <p:nvPr/>
        </p:nvSpPr>
        <p:spPr>
          <a:xfrm>
            <a:off x="9229725" y="1666875"/>
            <a:ext cx="2133600" cy="590550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5" name="element-55">
            <a:extLst>
              <a:ext uri="{FF2B5EF4-FFF2-40B4-BE49-F238E27FC236}">
                <a16:creationId xmlns:a16="http://schemas.microsoft.com/office/drawing/2014/main" id="{F83E362F-A1F7-43FF-8F0F-5C99F0AEDAB9}"/>
              </a:ext>
            </a:extLst>
          </p:cNvPr>
          <p:cNvSpPr>
            <a:spLocks noGrp="1"/>
          </p:cNvSpPr>
          <p:nvPr/>
        </p:nvSpPr>
        <p:spPr>
          <a:xfrm>
            <a:off x="9286875" y="17526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Normalized Engine</a:t>
            </a:r>
          </a:p>
        </p:txBody>
      </p:sp>
      <p:sp>
        <p:nvSpPr>
          <p:cNvPr id="116" name="element-56">
            <a:extLst>
              <a:ext uri="{FF2B5EF4-FFF2-40B4-BE49-F238E27FC236}">
                <a16:creationId xmlns:a16="http://schemas.microsoft.com/office/drawing/2014/main" id="{1A3D77EC-29AA-4AF3-A025-BCB0E83DFBF9}"/>
              </a:ext>
            </a:extLst>
          </p:cNvPr>
          <p:cNvSpPr>
            <a:spLocks noGrp="1"/>
          </p:cNvSpPr>
          <p:nvPr/>
        </p:nvSpPr>
        <p:spPr>
          <a:xfrm>
            <a:off x="9286875" y="2028825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163" b="0" spc="0">
                <a:solidFill>
                  <a:srgbClr val="687585"/>
                </a:solidFill>
                <a:latin typeface="Malgun Gothic"/>
                <a:ea typeface="맑은 고딕"/>
                <a:cs typeface="Malgun Gothic"/>
              </a:rPr>
              <a:t>검증·영역별 매칭</a:t>
            </a:r>
          </a:p>
        </p:txBody>
      </p:sp>
      <p:sp>
        <p:nvSpPr>
          <p:cNvPr id="117" name="element-57">
            <a:extLst>
              <a:ext uri="{FF2B5EF4-FFF2-40B4-BE49-F238E27FC236}">
                <a16:creationId xmlns:a16="http://schemas.microsoft.com/office/drawing/2014/main" id="{B3F9DF86-D81A-44EC-BE93-C99F6D26A548}"/>
              </a:ext>
            </a:extLst>
          </p:cNvPr>
          <p:cNvSpPr>
            <a:spLocks noGrp="1"/>
          </p:cNvSpPr>
          <p:nvPr/>
        </p:nvSpPr>
        <p:spPr>
          <a:xfrm>
            <a:off x="10296525" y="2324100"/>
            <a:ext cx="0" cy="3267075"/>
          </a:xfrm>
          <a:prstGeom prst="line">
            <a:avLst/>
          </a:prstGeom>
          <a:noFill/>
          <a:ln w="9525">
            <a:solidFill>
              <a:srgbClr val="B9C2CC"/>
            </a:solidFill>
            <a:prstDash val="dash"/>
          </a:ln>
        </p:spPr>
      </p:sp>
      <p:sp>
        <p:nvSpPr>
          <p:cNvPr id="118" name="element-58">
            <a:extLst>
              <a:ext uri="{FF2B5EF4-FFF2-40B4-BE49-F238E27FC236}">
                <a16:creationId xmlns:a16="http://schemas.microsoft.com/office/drawing/2014/main" id="{EA291285-38B1-47E1-9961-9690C4B2CB3F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0429875" cy="2143125"/>
          </a:xfrm>
          <a:prstGeom prst="rect">
            <a:avLst/>
          </a:prstGeom>
          <a:noFill/>
          <a:ln w="9525">
            <a:solidFill>
              <a:srgbClr val="AAB7C4"/>
            </a:solidFill>
            <a:prstDash val="solid"/>
          </a:ln>
        </p:spPr>
      </p:sp>
      <p:sp>
        <p:nvSpPr>
          <p:cNvPr id="119" name="element-59">
            <a:extLst>
              <a:ext uri="{FF2B5EF4-FFF2-40B4-BE49-F238E27FC236}">
                <a16:creationId xmlns:a16="http://schemas.microsoft.com/office/drawing/2014/main" id="{44155284-AA53-4F6B-904D-05B61611FBB4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381125" cy="247650"/>
          </a:xfrm>
          <a:prstGeom prst="rect">
            <a:avLst/>
          </a:prstGeom>
          <a:solidFill>
            <a:srgbClr val="F0F3F6"/>
          </a:solidFill>
          <a:ln w="9525">
            <a:solidFill>
              <a:srgbClr val="AAB7C4"/>
            </a:solidFill>
            <a:prstDash val="solid"/>
          </a:ln>
        </p:spPr>
      </p:sp>
      <p:sp>
        <p:nvSpPr>
          <p:cNvPr id="120" name="element-60">
            <a:extLst>
              <a:ext uri="{FF2B5EF4-FFF2-40B4-BE49-F238E27FC236}">
                <a16:creationId xmlns:a16="http://schemas.microsoft.com/office/drawing/2014/main" id="{7E0CBF70-7CC9-4534-80C2-B070ED733BFD}"/>
              </a:ext>
            </a:extLst>
          </p:cNvPr>
          <p:cNvSpPr>
            <a:spLocks noGrp="1"/>
          </p:cNvSpPr>
          <p:nvPr/>
        </p:nvSpPr>
        <p:spPr>
          <a:xfrm>
            <a:off x="590550" y="24098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00" b="1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00" b="1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loop  장비별</a:t>
            </a:r>
          </a:p>
        </p:txBody>
      </p:sp>
      <p:sp>
        <p:nvSpPr>
          <p:cNvPr id="121" name="element-61">
            <a:extLst>
              <a:ext uri="{FF2B5EF4-FFF2-40B4-BE49-F238E27FC236}">
                <a16:creationId xmlns:a16="http://schemas.microsoft.com/office/drawing/2014/main" id="{DC3C44CA-2FD9-4746-B9B1-6C1FCE033D61}"/>
              </a:ext>
            </a:extLst>
          </p:cNvPr>
          <p:cNvSpPr>
            <a:spLocks noGrp="1"/>
          </p:cNvSpPr>
          <p:nvPr/>
        </p:nvSpPr>
        <p:spPr>
          <a:xfrm>
            <a:off x="1633538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2" name="element-62">
            <a:extLst>
              <a:ext uri="{FF2B5EF4-FFF2-40B4-BE49-F238E27FC236}">
                <a16:creationId xmlns:a16="http://schemas.microsoft.com/office/drawing/2014/main" id="{1D5264B4-8558-4914-8C22-557B5409BEC4}"/>
              </a:ext>
            </a:extLst>
          </p:cNvPr>
          <p:cNvSpPr>
            <a:spLocks noGrp="1"/>
          </p:cNvSpPr>
          <p:nvPr/>
        </p:nvSpPr>
        <p:spPr>
          <a:xfrm>
            <a:off x="451961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3" name="직선 화살표 연결선 122"/>
          <p:cNvCxnSpPr>
            <a:stCxn id="121" idx="3"/>
            <a:endCxn id="122" idx="1"/>
          </p:cNvCxnSpPr>
          <p:nvPr/>
        </p:nvCxnSpPr>
        <p:spPr>
          <a:xfrm>
            <a:off x="1643063" y="2952751"/>
            <a:ext cx="2876550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24" name="element-63">
            <a:extLst>
              <a:ext uri="{FF2B5EF4-FFF2-40B4-BE49-F238E27FC236}">
                <a16:creationId xmlns:a16="http://schemas.microsoft.com/office/drawing/2014/main" id="{1D1C65AC-D0AE-4AA1-A627-22829C3BBE76}"/>
              </a:ext>
            </a:extLst>
          </p:cNvPr>
          <p:cNvSpPr>
            <a:spLocks noGrp="1"/>
          </p:cNvSpPr>
          <p:nvPr/>
        </p:nvSpPr>
        <p:spPr>
          <a:xfrm>
            <a:off x="1733550" y="27051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① Read(KLARF 경로)</a:t>
            </a:r>
          </a:p>
        </p:txBody>
      </p:sp>
      <p:sp>
        <p:nvSpPr>
          <p:cNvPr id="125" name="element-64">
            <a:extLst>
              <a:ext uri="{FF2B5EF4-FFF2-40B4-BE49-F238E27FC236}">
                <a16:creationId xmlns:a16="http://schemas.microsoft.com/office/drawing/2014/main" id="{11956CBA-6968-42AA-B0DA-F781BD4EB5CC}"/>
              </a:ext>
            </a:extLst>
          </p:cNvPr>
          <p:cNvSpPr>
            <a:spLocks noGrp="1"/>
          </p:cNvSpPr>
          <p:nvPr/>
        </p:nvSpPr>
        <p:spPr>
          <a:xfrm>
            <a:off x="4519613" y="33670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6" name="element-65">
            <a:extLst>
              <a:ext uri="{FF2B5EF4-FFF2-40B4-BE49-F238E27FC236}">
                <a16:creationId xmlns:a16="http://schemas.microsoft.com/office/drawing/2014/main" id="{3B9C9944-5C37-40D8-BF32-A85CD1AC547C}"/>
              </a:ext>
            </a:extLst>
          </p:cNvPr>
          <p:cNvSpPr>
            <a:spLocks noGrp="1"/>
          </p:cNvSpPr>
          <p:nvPr/>
        </p:nvSpPr>
        <p:spPr>
          <a:xfrm>
            <a:off x="1633538" y="33670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7" name="직선 화살표 연결선 126"/>
          <p:cNvCxnSpPr>
            <a:stCxn id="125" idx="1"/>
            <a:endCxn id="126" idx="3"/>
          </p:cNvCxnSpPr>
          <p:nvPr/>
        </p:nvCxnSpPr>
        <p:spPr>
          <a:xfrm flipH="1">
            <a:off x="1643063" y="3371851"/>
            <a:ext cx="2876550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28" name="element-66">
            <a:extLst>
              <a:ext uri="{FF2B5EF4-FFF2-40B4-BE49-F238E27FC236}">
                <a16:creationId xmlns:a16="http://schemas.microsoft.com/office/drawing/2014/main" id="{37A0951B-3FDA-4A22-B0FF-910D9EEC9E3A}"/>
              </a:ext>
            </a:extLst>
          </p:cNvPr>
          <p:cNvSpPr>
            <a:spLocks noGrp="1"/>
          </p:cNvSpPr>
          <p:nvPr/>
        </p:nvSpPr>
        <p:spPr>
          <a:xfrm>
            <a:off x="1733550" y="31242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② KlarfDocument</a:t>
            </a:r>
          </a:p>
        </p:txBody>
      </p:sp>
      <p:sp>
        <p:nvSpPr>
          <p:cNvPr id="129" name="element-67">
            <a:extLst>
              <a:ext uri="{FF2B5EF4-FFF2-40B4-BE49-F238E27FC236}">
                <a16:creationId xmlns:a16="http://schemas.microsoft.com/office/drawing/2014/main" id="{03C3859B-897E-42E7-BF46-60EBA1775DF8}"/>
              </a:ext>
            </a:extLst>
          </p:cNvPr>
          <p:cNvSpPr>
            <a:spLocks noGrp="1"/>
          </p:cNvSpPr>
          <p:nvPr/>
        </p:nvSpPr>
        <p:spPr>
          <a:xfrm>
            <a:off x="1633538" y="3871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0" name="element-68">
            <a:extLst>
              <a:ext uri="{FF2B5EF4-FFF2-40B4-BE49-F238E27FC236}">
                <a16:creationId xmlns:a16="http://schemas.microsoft.com/office/drawing/2014/main" id="{ACF2E436-9A9D-4C48-952E-8B9FD8D291F5}"/>
              </a:ext>
            </a:extLst>
          </p:cNvPr>
          <p:cNvSpPr>
            <a:spLocks noGrp="1"/>
          </p:cNvSpPr>
          <p:nvPr/>
        </p:nvSpPr>
        <p:spPr>
          <a:xfrm>
            <a:off x="7405688" y="3871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1" name="직선 화살표 연결선 130"/>
          <p:cNvCxnSpPr>
            <a:stCxn id="129" idx="3"/>
            <a:endCxn id="130" idx="1"/>
          </p:cNvCxnSpPr>
          <p:nvPr/>
        </p:nvCxnSpPr>
        <p:spPr>
          <a:xfrm>
            <a:off x="1643063" y="3876676"/>
            <a:ext cx="5762625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32" name="element-69">
            <a:extLst>
              <a:ext uri="{FF2B5EF4-FFF2-40B4-BE49-F238E27FC236}">
                <a16:creationId xmlns:a16="http://schemas.microsoft.com/office/drawing/2014/main" id="{12381775-E65B-41FA-8095-CC74EC89BFBB}"/>
              </a:ext>
            </a:extLst>
          </p:cNvPr>
          <p:cNvSpPr>
            <a:spLocks noGrp="1"/>
          </p:cNvSpPr>
          <p:nvPr/>
        </p:nvSpPr>
        <p:spPr>
          <a:xfrm>
            <a:off x="1733550" y="3629025"/>
            <a:ext cx="558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③ Normalize(document, options)</a:t>
            </a:r>
          </a:p>
        </p:txBody>
      </p:sp>
      <p:sp>
        <p:nvSpPr>
          <p:cNvPr id="133" name="element-70">
            <a:extLst>
              <a:ext uri="{FF2B5EF4-FFF2-40B4-BE49-F238E27FC236}">
                <a16:creationId xmlns:a16="http://schemas.microsoft.com/office/drawing/2014/main" id="{1B16D656-7DF0-430D-B08B-282DD7D7CF69}"/>
              </a:ext>
            </a:extLst>
          </p:cNvPr>
          <p:cNvSpPr>
            <a:spLocks noGrp="1"/>
          </p:cNvSpPr>
          <p:nvPr/>
        </p:nvSpPr>
        <p:spPr>
          <a:xfrm>
            <a:off x="7405688" y="43291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4" name="element-71">
            <a:extLst>
              <a:ext uri="{FF2B5EF4-FFF2-40B4-BE49-F238E27FC236}">
                <a16:creationId xmlns:a16="http://schemas.microsoft.com/office/drawing/2014/main" id="{56586AAC-FCB5-42C9-BFEC-ADEB217B6091}"/>
              </a:ext>
            </a:extLst>
          </p:cNvPr>
          <p:cNvSpPr>
            <a:spLocks noGrp="1"/>
          </p:cNvSpPr>
          <p:nvPr/>
        </p:nvSpPr>
        <p:spPr>
          <a:xfrm>
            <a:off x="1633538" y="43291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5" name="직선 화살표 연결선 134"/>
          <p:cNvCxnSpPr>
            <a:stCxn id="133" idx="1"/>
            <a:endCxn id="134" idx="3"/>
          </p:cNvCxnSpPr>
          <p:nvPr/>
        </p:nvCxnSpPr>
        <p:spPr>
          <a:xfrm flipH="1">
            <a:off x="1643063" y="4333876"/>
            <a:ext cx="5762625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36" name="element-72">
            <a:extLst>
              <a:ext uri="{FF2B5EF4-FFF2-40B4-BE49-F238E27FC236}">
                <a16:creationId xmlns:a16="http://schemas.microsoft.com/office/drawing/2014/main" id="{08FB8787-6986-441B-9760-235C8D89BFEA}"/>
              </a:ext>
            </a:extLst>
          </p:cNvPr>
          <p:cNvSpPr>
            <a:spLocks noGrp="1"/>
          </p:cNvSpPr>
          <p:nvPr/>
        </p:nvSpPr>
        <p:spPr>
          <a:xfrm>
            <a:off x="1733550" y="4086225"/>
            <a:ext cx="558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④ InspectionDataset</a:t>
            </a:r>
          </a:p>
        </p:txBody>
      </p:sp>
      <p:sp>
        <p:nvSpPr>
          <p:cNvPr id="137" name="element-73">
            <a:extLst>
              <a:ext uri="{FF2B5EF4-FFF2-40B4-BE49-F238E27FC236}">
                <a16:creationId xmlns:a16="http://schemas.microsoft.com/office/drawing/2014/main" id="{7B57B0B3-9FB4-41B5-B52E-D3C2B1D7EC45}"/>
              </a:ext>
            </a:extLst>
          </p:cNvPr>
          <p:cNvSpPr>
            <a:spLocks noGrp="1"/>
          </p:cNvSpPr>
          <p:nvPr/>
        </p:nvSpPr>
        <p:spPr>
          <a:xfrm>
            <a:off x="1633538" y="4910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8" name="element-74">
            <a:extLst>
              <a:ext uri="{FF2B5EF4-FFF2-40B4-BE49-F238E27FC236}">
                <a16:creationId xmlns:a16="http://schemas.microsoft.com/office/drawing/2014/main" id="{99FC6B34-FF58-41C4-A765-92949AC1ACC8}"/>
              </a:ext>
            </a:extLst>
          </p:cNvPr>
          <p:cNvSpPr>
            <a:spLocks noGrp="1"/>
          </p:cNvSpPr>
          <p:nvPr/>
        </p:nvSpPr>
        <p:spPr>
          <a:xfrm>
            <a:off x="10291763" y="4910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9" name="직선 화살표 연결선 138"/>
          <p:cNvCxnSpPr>
            <a:stCxn id="137" idx="3"/>
            <a:endCxn id="138" idx="1"/>
          </p:cNvCxnSpPr>
          <p:nvPr/>
        </p:nvCxnSpPr>
        <p:spPr>
          <a:xfrm>
            <a:off x="1643063" y="4914901"/>
            <a:ext cx="8648700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40" name="element-75">
            <a:extLst>
              <a:ext uri="{FF2B5EF4-FFF2-40B4-BE49-F238E27FC236}">
                <a16:creationId xmlns:a16="http://schemas.microsoft.com/office/drawing/2014/main" id="{810EDFB3-F39D-479F-BED8-CE7362F6C483}"/>
              </a:ext>
            </a:extLst>
          </p:cNvPr>
          <p:cNvSpPr>
            <a:spLocks noGrp="1"/>
          </p:cNvSpPr>
          <p:nvPr/>
        </p:nvSpPr>
        <p:spPr>
          <a:xfrm>
            <a:off x="1733550" y="4667250"/>
            <a:ext cx="846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⑤ Analyze(datasets, 공차, 기준 장비, 필수 결함)</a:t>
            </a:r>
          </a:p>
        </p:txBody>
      </p:sp>
      <p:sp>
        <p:nvSpPr>
          <p:cNvPr id="141" name="element-76">
            <a:extLst>
              <a:ext uri="{FF2B5EF4-FFF2-40B4-BE49-F238E27FC236}">
                <a16:creationId xmlns:a16="http://schemas.microsoft.com/office/drawing/2014/main" id="{8D1DA2BC-A19B-4E6A-8AF1-7CF205DC0A2B}"/>
              </a:ext>
            </a:extLst>
          </p:cNvPr>
          <p:cNvSpPr>
            <a:spLocks noGrp="1"/>
          </p:cNvSpPr>
          <p:nvPr/>
        </p:nvSpPr>
        <p:spPr>
          <a:xfrm>
            <a:off x="10291763" y="53768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2" name="element-77">
            <a:extLst>
              <a:ext uri="{FF2B5EF4-FFF2-40B4-BE49-F238E27FC236}">
                <a16:creationId xmlns:a16="http://schemas.microsoft.com/office/drawing/2014/main" id="{E83CCA32-B1AB-445C-970D-9DDA71318B7E}"/>
              </a:ext>
            </a:extLst>
          </p:cNvPr>
          <p:cNvSpPr>
            <a:spLocks noGrp="1"/>
          </p:cNvSpPr>
          <p:nvPr/>
        </p:nvSpPr>
        <p:spPr>
          <a:xfrm>
            <a:off x="1633538" y="53768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3" name="직선 화살표 연결선 142"/>
          <p:cNvCxnSpPr>
            <a:stCxn id="141" idx="1"/>
            <a:endCxn id="142" idx="3"/>
          </p:cNvCxnSpPr>
          <p:nvPr/>
        </p:nvCxnSpPr>
        <p:spPr>
          <a:xfrm flipH="1">
            <a:off x="1643063" y="5381626"/>
            <a:ext cx="8648700" cy="0"/>
          </a:xfrm>
          <a:prstGeom prst="straightConnector1">
            <a:avLst/>
          </a:prstGeom>
          <a:ln w="16193">
            <a:solidFill>
              <a:srgbClr val="1479C9"/>
            </a:solidFill>
            <a:prstDash val="dash"/>
            <a:tailEnd type="triangle" w="sm" len="sm"/>
          </a:ln>
        </p:spPr>
      </p:cxnSp>
      <p:sp>
        <p:nvSpPr>
          <p:cNvPr id="144" name="element-78">
            <a:extLst>
              <a:ext uri="{FF2B5EF4-FFF2-40B4-BE49-F238E27FC236}">
                <a16:creationId xmlns:a16="http://schemas.microsoft.com/office/drawing/2014/main" id="{DBBE94C9-A0FF-44D5-8019-E99F9E0CC849}"/>
              </a:ext>
            </a:extLst>
          </p:cNvPr>
          <p:cNvSpPr>
            <a:spLocks noGrp="1"/>
          </p:cNvSpPr>
          <p:nvPr/>
        </p:nvSpPr>
        <p:spPr>
          <a:xfrm>
            <a:off x="1733550" y="5133975"/>
            <a:ext cx="846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⑥ AnalysisResult: 데이터·매칭·진단</a:t>
            </a:r>
          </a:p>
        </p:txBody>
      </p:sp>
      <p:sp>
        <p:nvSpPr>
          <p:cNvPr id="145" name="element-79">
            <a:extLst>
              <a:ext uri="{FF2B5EF4-FFF2-40B4-BE49-F238E27FC236}">
                <a16:creationId xmlns:a16="http://schemas.microsoft.com/office/drawing/2014/main" id="{04BCAA79-D693-4F2B-BA49-129B3A342A41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입력 오류가 있으면 매칭 전에 실패 반환. 분석 성공 후 등록된 영상 모듈을 장비 쌍별로 실행.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6. 데이터 계약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8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80">
            <a:extLst>
              <a:ext uri="{FF2B5EF4-FFF2-40B4-BE49-F238E27FC236}">
                <a16:creationId xmlns:a16="http://schemas.microsoft.com/office/drawing/2014/main" id="{62EC43C4-091C-414A-A442-97768DDF1EA6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81">
            <a:extLst>
              <a:ext uri="{FF2B5EF4-FFF2-40B4-BE49-F238E27FC236}">
                <a16:creationId xmlns:a16="http://schemas.microsoft.com/office/drawing/2014/main" id="{40B514BE-041B-47C9-B7E6-F88AF87CB053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입력 요청, 정규화 데이터, 최종 화면 결과의 경계</a:t>
            </a:r>
          </a:p>
        </p:txBody>
      </p:sp>
      <p:graphicFrame>
        <p:nvGraphicFramePr>
          <p:cNvPr id="102" name="표 101"/>
          <p:cNvGraphicFramePr/>
          <p:nvPr/>
        </p:nvGraphicFramePr>
        <p:xfrm>
          <a:off x="723900" y="1704975"/>
          <a:ext cx="10744200" cy="38862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데이터 계약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담는 정보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다음 처리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AnalysisRequest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장비 입력, 프로파일, 공차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기준 장비, 필수 결함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Application Service에서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요청 검증 및 읽기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KlarfDocument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원본 결함, 파일 메타데이터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Inspection Profile이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좌표·단위·필터 규칙 적용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InspectionDataset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장비 ID, Profile / Frame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NormalizedDefect, RegionKey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정규화 엔진의 입력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좌표·크기는 µm 기준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TttmEquipmentData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정규화 결함을 기준 모델로 변환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KLARF 모델, 이미지 경로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TttmAnalysisEngine 입력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좌표 단위 재변환 없음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TttmAnalysisResult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매칭 그룹, 장비·쌍별 통계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필수 결함, 영상 지표, 진단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화면 바인딩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CSV·이미지·PDF 출력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" name="element-82">
            <a:extLst>
              <a:ext uri="{FF2B5EF4-FFF2-40B4-BE49-F238E27FC236}">
                <a16:creationId xmlns:a16="http://schemas.microsoft.com/office/drawing/2014/main" id="{850EA01F-E773-4E7B-9E0B-70D4E7A4814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4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AnalysisResult는 정규화 분석 계약이며, TttmAnalysisResult는 화면과 보고서에서 사용하는 계약입니다.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7. 결함 매칭과 결과 집계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9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83">
            <a:extLst>
              <a:ext uri="{FF2B5EF4-FFF2-40B4-BE49-F238E27FC236}">
                <a16:creationId xmlns:a16="http://schemas.microsoft.com/office/drawing/2014/main" id="{1584E00A-6319-419F-BE57-211363463CE0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84">
            <a:extLst>
              <a:ext uri="{FF2B5EF4-FFF2-40B4-BE49-F238E27FC236}">
                <a16:creationId xmlns:a16="http://schemas.microsoft.com/office/drawing/2014/main" id="{87DBB64F-01C4-497B-947D-B6735338F8FF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공차와 영역 조건으로 일대일 매칭을 수행하고 같은 그룹으로 통계 집계</a:t>
            </a:r>
          </a:p>
        </p:txBody>
      </p:sp>
      <p:sp>
        <p:nvSpPr>
          <p:cNvPr id="102" name="element-85">
            <a:extLst>
              <a:ext uri="{FF2B5EF4-FFF2-40B4-BE49-F238E27FC236}">
                <a16:creationId xmlns:a16="http://schemas.microsoft.com/office/drawing/2014/main" id="{31EEBA62-9FC7-4B1B-9045-4A786F0C32A2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476500" cy="2238375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3" name="element-86">
            <a:extLst>
              <a:ext uri="{FF2B5EF4-FFF2-40B4-BE49-F238E27FC236}">
                <a16:creationId xmlns:a16="http://schemas.microsoft.com/office/drawing/2014/main" id="{9B15BF1A-973A-40E3-A009-B13D6EF2BAB3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476500" cy="57150"/>
          </a:xfrm>
          <a:prstGeom prst="rect">
            <a:avLst/>
          </a:prstGeom>
          <a:solidFill>
            <a:srgbClr val="1479C9"/>
          </a:solidFill>
          <a:ln w="0">
            <a:noFill/>
            <a:prstDash val="solid"/>
          </a:ln>
        </p:spPr>
      </p:sp>
      <p:sp>
        <p:nvSpPr>
          <p:cNvPr id="104" name="element-87">
            <a:extLst>
              <a:ext uri="{FF2B5EF4-FFF2-40B4-BE49-F238E27FC236}">
                <a16:creationId xmlns:a16="http://schemas.microsoft.com/office/drawing/2014/main" id="{1D1F562A-C3F3-434E-AE68-20B96F392115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10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10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01</a:t>
            </a:r>
          </a:p>
        </p:txBody>
      </p:sp>
      <p:sp>
        <p:nvSpPr>
          <p:cNvPr id="105" name="element-88">
            <a:extLst>
              <a:ext uri="{FF2B5EF4-FFF2-40B4-BE49-F238E27FC236}">
                <a16:creationId xmlns:a16="http://schemas.microsoft.com/office/drawing/2014/main" id="{0BEB3B2E-2704-4763-AD73-6BDAD7020C5A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입력 검증</a:t>
            </a:r>
          </a:p>
        </p:txBody>
      </p:sp>
      <p:sp>
        <p:nvSpPr>
          <p:cNvPr id="106" name="element-89">
            <a:extLst>
              <a:ext uri="{FF2B5EF4-FFF2-40B4-BE49-F238E27FC236}">
                <a16:creationId xmlns:a16="http://schemas.microsoft.com/office/drawing/2014/main" id="{65987F5E-AF03-498A-BC38-F3953C03E572}"/>
              </a:ext>
            </a:extLst>
          </p:cNvPr>
          <p:cNvSpPr>
            <a:spLocks noGrp="1"/>
          </p:cNvSpPr>
          <p:nvPr/>
        </p:nvSpPr>
        <p:spPr>
          <a:xfrm>
            <a:off x="781050" y="3057525"/>
            <a:ext cx="21336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 식별자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좌표계·프로파일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유효한 공차</a:t>
            </a:r>
          </a:p>
        </p:txBody>
      </p:sp>
      <p:sp>
        <p:nvSpPr>
          <p:cNvPr id="107" name="element-90">
            <a:extLst>
              <a:ext uri="{FF2B5EF4-FFF2-40B4-BE49-F238E27FC236}">
                <a16:creationId xmlns:a16="http://schemas.microsoft.com/office/drawing/2014/main" id="{52449CEF-14E4-4AFC-A45C-3535C3DD942C}"/>
              </a:ext>
            </a:extLst>
          </p:cNvPr>
          <p:cNvSpPr>
            <a:spLocks noGrp="1"/>
          </p:cNvSpPr>
          <p:nvPr/>
        </p:nvSpPr>
        <p:spPr>
          <a:xfrm>
            <a:off x="312896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8" name="element-91">
            <a:extLst>
              <a:ext uri="{FF2B5EF4-FFF2-40B4-BE49-F238E27FC236}">
                <a16:creationId xmlns:a16="http://schemas.microsoft.com/office/drawing/2014/main" id="{2E62B5A9-2C5A-4468-8D07-9434D53F42DA}"/>
              </a:ext>
            </a:extLst>
          </p:cNvPr>
          <p:cNvSpPr>
            <a:spLocks noGrp="1"/>
          </p:cNvSpPr>
          <p:nvPr/>
        </p:nvSpPr>
        <p:spPr>
          <a:xfrm>
            <a:off x="330041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9" name="직선 화살표 연결선 108"/>
          <p:cNvCxnSpPr>
            <a:stCxn id="107" idx="3"/>
            <a:endCxn id="108" idx="1"/>
          </p:cNvCxnSpPr>
          <p:nvPr/>
        </p:nvCxnSpPr>
        <p:spPr>
          <a:xfrm>
            <a:off x="3138488" y="2952751"/>
            <a:ext cx="161925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10" name="element-92">
            <a:extLst>
              <a:ext uri="{FF2B5EF4-FFF2-40B4-BE49-F238E27FC236}">
                <a16:creationId xmlns:a16="http://schemas.microsoft.com/office/drawing/2014/main" id="{318C4268-DDF7-4352-8C2A-E571CE814564}"/>
              </a:ext>
            </a:extLst>
          </p:cNvPr>
          <p:cNvSpPr>
            <a:spLocks noGrp="1"/>
          </p:cNvSpPr>
          <p:nvPr/>
        </p:nvSpPr>
        <p:spPr>
          <a:xfrm>
            <a:off x="3390900" y="1905000"/>
            <a:ext cx="2476500" cy="2238375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1" name="element-93">
            <a:extLst>
              <a:ext uri="{FF2B5EF4-FFF2-40B4-BE49-F238E27FC236}">
                <a16:creationId xmlns:a16="http://schemas.microsoft.com/office/drawing/2014/main" id="{032ABE0A-9FAB-4AFD-B528-FE11D8DA5193}"/>
              </a:ext>
            </a:extLst>
          </p:cNvPr>
          <p:cNvSpPr>
            <a:spLocks noGrp="1"/>
          </p:cNvSpPr>
          <p:nvPr/>
        </p:nvSpPr>
        <p:spPr>
          <a:xfrm>
            <a:off x="3390900" y="1905000"/>
            <a:ext cx="2476500" cy="57150"/>
          </a:xfrm>
          <a:prstGeom prst="rect">
            <a:avLst/>
          </a:prstGeom>
          <a:solidFill>
            <a:srgbClr val="18A7A7"/>
          </a:solidFill>
          <a:ln w="0">
            <a:noFill/>
            <a:prstDash val="solid"/>
          </a:ln>
        </p:spPr>
      </p:sp>
      <p:sp>
        <p:nvSpPr>
          <p:cNvPr id="112" name="element-94">
            <a:extLst>
              <a:ext uri="{FF2B5EF4-FFF2-40B4-BE49-F238E27FC236}">
                <a16:creationId xmlns:a16="http://schemas.microsoft.com/office/drawing/2014/main" id="{38E3B7EB-4E18-4A4C-B4F4-15BD64C97A58}"/>
              </a:ext>
            </a:extLst>
          </p:cNvPr>
          <p:cNvSpPr>
            <a:spLocks noGrp="1"/>
          </p:cNvSpPr>
          <p:nvPr/>
        </p:nvSpPr>
        <p:spPr>
          <a:xfrm>
            <a:off x="3562350" y="2124075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100" b="1" spc="0">
                <a:solidFill>
                  <a:srgbClr val="18A7A7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100" b="1" spc="0">
                <a:solidFill>
                  <a:srgbClr val="18A7A7"/>
                </a:solidFill>
                <a:latin typeface="Malgun Gothic"/>
                <a:ea typeface="맑은 고딕"/>
                <a:cs typeface="Malgun Gothic"/>
              </a:rPr>
              <a:t>02</a:t>
            </a:r>
          </a:p>
        </p:txBody>
      </p:sp>
      <p:sp>
        <p:nvSpPr>
          <p:cNvPr id="113" name="element-95">
            <a:extLst>
              <a:ext uri="{FF2B5EF4-FFF2-40B4-BE49-F238E27FC236}">
                <a16:creationId xmlns:a16="http://schemas.microsoft.com/office/drawing/2014/main" id="{27CFDB91-3ED9-405E-ACCD-CDFC26EDF78D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후보 구성</a:t>
            </a:r>
          </a:p>
        </p:txBody>
      </p:sp>
      <p:sp>
        <p:nvSpPr>
          <p:cNvPr id="114" name="element-96">
            <a:extLst>
              <a:ext uri="{FF2B5EF4-FFF2-40B4-BE49-F238E27FC236}">
                <a16:creationId xmlns:a16="http://schemas.microsoft.com/office/drawing/2014/main" id="{8DA767BA-FBAF-4941-B342-1C24378C4ACE}"/>
              </a:ext>
            </a:extLst>
          </p:cNvPr>
          <p:cNvSpPr>
            <a:spLocks noGrp="1"/>
          </p:cNvSpPr>
          <p:nvPr/>
        </p:nvSpPr>
        <p:spPr>
          <a:xfrm>
            <a:off x="3562350" y="3057525"/>
            <a:ext cx="21336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정규화: RegionKey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기준 엔진: Die 좌표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같은 영역 안의 결함</a:t>
            </a:r>
          </a:p>
        </p:txBody>
      </p:sp>
      <p:sp>
        <p:nvSpPr>
          <p:cNvPr id="115" name="element-97">
            <a:extLst>
              <a:ext uri="{FF2B5EF4-FFF2-40B4-BE49-F238E27FC236}">
                <a16:creationId xmlns:a16="http://schemas.microsoft.com/office/drawing/2014/main" id="{37BB1BD3-1D25-400D-8B92-C1E45EFD317B}"/>
              </a:ext>
            </a:extLst>
          </p:cNvPr>
          <p:cNvSpPr>
            <a:spLocks noGrp="1"/>
          </p:cNvSpPr>
          <p:nvPr/>
        </p:nvSpPr>
        <p:spPr>
          <a:xfrm>
            <a:off x="591026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element-98">
            <a:extLst>
              <a:ext uri="{FF2B5EF4-FFF2-40B4-BE49-F238E27FC236}">
                <a16:creationId xmlns:a16="http://schemas.microsoft.com/office/drawing/2014/main" id="{EFE2BDD5-A82B-449A-98FD-148952FFDAA1}"/>
              </a:ext>
            </a:extLst>
          </p:cNvPr>
          <p:cNvSpPr>
            <a:spLocks noGrp="1"/>
          </p:cNvSpPr>
          <p:nvPr/>
        </p:nvSpPr>
        <p:spPr>
          <a:xfrm>
            <a:off x="608171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7" name="직선 화살표 연결선 116"/>
          <p:cNvCxnSpPr>
            <a:stCxn id="115" idx="3"/>
            <a:endCxn id="116" idx="1"/>
          </p:cNvCxnSpPr>
          <p:nvPr/>
        </p:nvCxnSpPr>
        <p:spPr>
          <a:xfrm>
            <a:off x="5919788" y="2952751"/>
            <a:ext cx="161925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18" name="element-99">
            <a:extLst>
              <a:ext uri="{FF2B5EF4-FFF2-40B4-BE49-F238E27FC236}">
                <a16:creationId xmlns:a16="http://schemas.microsoft.com/office/drawing/2014/main" id="{72FDD4D2-C27A-497A-BA33-AF8E4D932235}"/>
              </a:ext>
            </a:extLst>
          </p:cNvPr>
          <p:cNvSpPr>
            <a:spLocks noGrp="1"/>
          </p:cNvSpPr>
          <p:nvPr/>
        </p:nvSpPr>
        <p:spPr>
          <a:xfrm>
            <a:off x="6172200" y="1905000"/>
            <a:ext cx="2476500" cy="2238375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9" name="element-100">
            <a:extLst>
              <a:ext uri="{FF2B5EF4-FFF2-40B4-BE49-F238E27FC236}">
                <a16:creationId xmlns:a16="http://schemas.microsoft.com/office/drawing/2014/main" id="{41922BB3-E42D-495B-9E6A-4B26D2536F82}"/>
              </a:ext>
            </a:extLst>
          </p:cNvPr>
          <p:cNvSpPr>
            <a:spLocks noGrp="1"/>
          </p:cNvSpPr>
          <p:nvPr/>
        </p:nvSpPr>
        <p:spPr>
          <a:xfrm>
            <a:off x="6172200" y="1905000"/>
            <a:ext cx="2476500" cy="57150"/>
          </a:xfrm>
          <a:prstGeom prst="rect">
            <a:avLst/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20" name="element-101">
            <a:extLst>
              <a:ext uri="{FF2B5EF4-FFF2-40B4-BE49-F238E27FC236}">
                <a16:creationId xmlns:a16="http://schemas.microsoft.com/office/drawing/2014/main" id="{2A3AF5B0-D9AE-4208-B64A-DAD68E64BD2C}"/>
              </a:ext>
            </a:extLst>
          </p:cNvPr>
          <p:cNvSpPr>
            <a:spLocks noGrp="1"/>
          </p:cNvSpPr>
          <p:nvPr/>
        </p:nvSpPr>
        <p:spPr>
          <a:xfrm>
            <a:off x="6343650" y="2124075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100" b="1" spc="0">
                <a:solidFill>
                  <a:srgbClr val="FF8A3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100" b="1" spc="0">
                <a:solidFill>
                  <a:srgbClr val="FF8A3D"/>
                </a:solidFill>
                <a:latin typeface="Malgun Gothic"/>
                <a:ea typeface="맑은 고딕"/>
                <a:cs typeface="Malgun Gothic"/>
              </a:rPr>
              <a:t>03</a:t>
            </a:r>
          </a:p>
        </p:txBody>
      </p:sp>
      <p:sp>
        <p:nvSpPr>
          <p:cNvPr id="121" name="element-102">
            <a:extLst>
              <a:ext uri="{FF2B5EF4-FFF2-40B4-BE49-F238E27FC236}">
                <a16:creationId xmlns:a16="http://schemas.microsoft.com/office/drawing/2014/main" id="{CEB9D8B0-99BB-420C-949E-48B8FFA390CF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일대일 매칭</a:t>
            </a:r>
          </a:p>
        </p:txBody>
      </p:sp>
      <p:sp>
        <p:nvSpPr>
          <p:cNvPr id="122" name="element-103">
            <a:extLst>
              <a:ext uri="{FF2B5EF4-FFF2-40B4-BE49-F238E27FC236}">
                <a16:creationId xmlns:a16="http://schemas.microsoft.com/office/drawing/2014/main" id="{CE159CCA-9BD0-4DF6-ADC3-36D92097DE80}"/>
              </a:ext>
            </a:extLst>
          </p:cNvPr>
          <p:cNvSpPr>
            <a:spLocks noGrp="1"/>
          </p:cNvSpPr>
          <p:nvPr/>
        </p:nvSpPr>
        <p:spPr>
          <a:xfrm>
            <a:off x="6343650" y="3057525"/>
            <a:ext cx="21336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거리 비용 행렬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Hungarian 할당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공차 밖 후보 제외</a:t>
            </a:r>
          </a:p>
        </p:txBody>
      </p:sp>
      <p:sp>
        <p:nvSpPr>
          <p:cNvPr id="123" name="element-104">
            <a:extLst>
              <a:ext uri="{FF2B5EF4-FFF2-40B4-BE49-F238E27FC236}">
                <a16:creationId xmlns:a16="http://schemas.microsoft.com/office/drawing/2014/main" id="{0F7A9142-2171-4377-9446-D7CD9E89A8FA}"/>
              </a:ext>
            </a:extLst>
          </p:cNvPr>
          <p:cNvSpPr>
            <a:spLocks noGrp="1"/>
          </p:cNvSpPr>
          <p:nvPr/>
        </p:nvSpPr>
        <p:spPr>
          <a:xfrm>
            <a:off x="869156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4" name="element-105">
            <a:extLst>
              <a:ext uri="{FF2B5EF4-FFF2-40B4-BE49-F238E27FC236}">
                <a16:creationId xmlns:a16="http://schemas.microsoft.com/office/drawing/2014/main" id="{8C798AC7-F832-4A20-8FEA-6A654F1A614C}"/>
              </a:ext>
            </a:extLst>
          </p:cNvPr>
          <p:cNvSpPr>
            <a:spLocks noGrp="1"/>
          </p:cNvSpPr>
          <p:nvPr/>
        </p:nvSpPr>
        <p:spPr>
          <a:xfrm>
            <a:off x="8863013" y="29479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5" name="직선 화살표 연결선 124"/>
          <p:cNvCxnSpPr>
            <a:stCxn id="123" idx="3"/>
            <a:endCxn id="124" idx="1"/>
          </p:cNvCxnSpPr>
          <p:nvPr/>
        </p:nvCxnSpPr>
        <p:spPr>
          <a:xfrm>
            <a:off x="8701088" y="2952751"/>
            <a:ext cx="161925" cy="0"/>
          </a:xfrm>
          <a:prstGeom prst="straightConnector1">
            <a:avLst/>
          </a:prstGeom>
          <a:ln w="16193">
            <a:solidFill>
              <a:srgbClr val="E8000D"/>
            </a:solidFill>
            <a:prstDash val="solid"/>
            <a:tailEnd type="triangle" w="sm" len="sm"/>
          </a:ln>
        </p:spPr>
      </p:cxnSp>
      <p:sp>
        <p:nvSpPr>
          <p:cNvPr id="126" name="element-106">
            <a:extLst>
              <a:ext uri="{FF2B5EF4-FFF2-40B4-BE49-F238E27FC236}">
                <a16:creationId xmlns:a16="http://schemas.microsoft.com/office/drawing/2014/main" id="{AD1E70C1-6DF8-479E-B74E-4D2EC8A1D41F}"/>
              </a:ext>
            </a:extLst>
          </p:cNvPr>
          <p:cNvSpPr>
            <a:spLocks noGrp="1"/>
          </p:cNvSpPr>
          <p:nvPr/>
        </p:nvSpPr>
        <p:spPr>
          <a:xfrm>
            <a:off x="8953500" y="1905000"/>
            <a:ext cx="2476500" cy="2238375"/>
          </a:xfrm>
          <a:prstGeom prst="rect">
            <a:avLst/>
          </a:prstGeom>
          <a:solidFill>
            <a:srgbClr val="FAFA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7" name="element-107">
            <a:extLst>
              <a:ext uri="{FF2B5EF4-FFF2-40B4-BE49-F238E27FC236}">
                <a16:creationId xmlns:a16="http://schemas.microsoft.com/office/drawing/2014/main" id="{EDC9C5B0-F072-4B72-9FDA-A71E5C4045E8}"/>
              </a:ext>
            </a:extLst>
          </p:cNvPr>
          <p:cNvSpPr>
            <a:spLocks noGrp="1"/>
          </p:cNvSpPr>
          <p:nvPr/>
        </p:nvSpPr>
        <p:spPr>
          <a:xfrm>
            <a:off x="8953500" y="1905000"/>
            <a:ext cx="2476500" cy="5715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128" name="element-108">
            <a:extLst>
              <a:ext uri="{FF2B5EF4-FFF2-40B4-BE49-F238E27FC236}">
                <a16:creationId xmlns:a16="http://schemas.microsoft.com/office/drawing/2014/main" id="{698DB0B8-620C-4C06-A0C0-89067B79316E}"/>
              </a:ext>
            </a:extLst>
          </p:cNvPr>
          <p:cNvSpPr>
            <a:spLocks noGrp="1"/>
          </p:cNvSpPr>
          <p:nvPr/>
        </p:nvSpPr>
        <p:spPr>
          <a:xfrm>
            <a:off x="9124950" y="2124075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10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100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04</a:t>
            </a:r>
          </a:p>
        </p:txBody>
      </p:sp>
      <p:sp>
        <p:nvSpPr>
          <p:cNvPr id="129" name="element-109">
            <a:extLst>
              <a:ext uri="{FF2B5EF4-FFF2-40B4-BE49-F238E27FC236}">
                <a16:creationId xmlns:a16="http://schemas.microsoft.com/office/drawing/2014/main" id="{605D72D6-7CCA-4572-9B8D-E687C47F6BA7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75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결과 집계</a:t>
            </a:r>
          </a:p>
        </p:txBody>
      </p:sp>
      <p:sp>
        <p:nvSpPr>
          <p:cNvPr id="130" name="element-110">
            <a:extLst>
              <a:ext uri="{FF2B5EF4-FFF2-40B4-BE49-F238E27FC236}">
                <a16:creationId xmlns:a16="http://schemas.microsoft.com/office/drawing/2014/main" id="{2ADB84EA-8D9D-45C8-8045-57297B5B4DC7}"/>
              </a:ext>
            </a:extLst>
          </p:cNvPr>
          <p:cNvSpPr>
            <a:spLocks noGrp="1"/>
          </p:cNvSpPr>
          <p:nvPr/>
        </p:nvSpPr>
        <p:spPr>
          <a:xfrm>
            <a:off x="9124950" y="3057525"/>
            <a:ext cx="21336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공통·단독 검출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장비·쌍별 통계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필수 결함 평가</a:t>
            </a:r>
          </a:p>
        </p:txBody>
      </p:sp>
      <p:sp>
        <p:nvSpPr>
          <p:cNvPr id="131" name="element-111">
            <a:extLst>
              <a:ext uri="{FF2B5EF4-FFF2-40B4-BE49-F238E27FC236}">
                <a16:creationId xmlns:a16="http://schemas.microsoft.com/office/drawing/2014/main" id="{A068EA5E-5273-44CC-AA9F-76214F0F5D56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1" spc="0">
                <a:solidFill>
                  <a:srgbClr val="18A7A7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1" spc="0">
                <a:solidFill>
                  <a:srgbClr val="18A7A7"/>
                </a:solidFill>
                <a:latin typeface="Malgun Gothic"/>
                <a:ea typeface="맑은 고딕"/>
                <a:cs typeface="Malgun Gothic"/>
              </a:rPr>
              <a:t>Normalized Engine</a:t>
            </a:r>
          </a:p>
        </p:txBody>
      </p:sp>
      <p:sp>
        <p:nvSpPr>
          <p:cNvPr id="132" name="element-112">
            <a:extLst>
              <a:ext uri="{FF2B5EF4-FFF2-40B4-BE49-F238E27FC236}">
                <a16:creationId xmlns:a16="http://schemas.microsoft.com/office/drawing/2014/main" id="{03AB7354-A2D4-46EB-A0B8-357571A6DAA8}"/>
              </a:ext>
            </a:extLst>
          </p:cNvPr>
          <p:cNvSpPr>
            <a:spLocks noGrp="1"/>
          </p:cNvSpPr>
          <p:nvPr/>
        </p:nvSpPr>
        <p:spPr>
          <a:xfrm>
            <a:off x="3714750" y="4562475"/>
            <a:ext cx="756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InspectionDataset 검증과 영역별 매칭을 담당합니다.</a:t>
            </a:r>
          </a:p>
        </p:txBody>
      </p:sp>
      <p:sp>
        <p:nvSpPr>
          <p:cNvPr id="133" name="element-113">
            <a:extLst>
              <a:ext uri="{FF2B5EF4-FFF2-40B4-BE49-F238E27FC236}">
                <a16:creationId xmlns:a16="http://schemas.microsoft.com/office/drawing/2014/main" id="{EA618D91-F209-45ED-B385-CC7A31138B29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82040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</p:sp>
      <p:sp>
        <p:nvSpPr>
          <p:cNvPr id="134" name="element-114">
            <a:extLst>
              <a:ext uri="{FF2B5EF4-FFF2-40B4-BE49-F238E27FC236}">
                <a16:creationId xmlns:a16="http://schemas.microsoft.com/office/drawing/2014/main" id="{F068AA6B-66A2-4927-B7E5-B7CE37B7BF32}"/>
              </a:ext>
            </a:extLst>
          </p:cNvPr>
          <p:cNvSpPr>
            <a:spLocks noGrp="1"/>
          </p:cNvSpPr>
          <p:nvPr/>
        </p:nvSpPr>
        <p:spPr>
          <a:xfrm>
            <a:off x="647700" y="5238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1" spc="0">
                <a:solidFill>
                  <a:srgbClr val="0B1F33"/>
                </a:solidFill>
                <a:latin typeface="Malgun Gothic"/>
                <a:ea typeface="맑은 고딕"/>
                <a:cs typeface="Malgun Gothic"/>
              </a:rPr>
              <a:t>TttmAnalysisEngine</a:t>
            </a:r>
          </a:p>
        </p:txBody>
      </p:sp>
      <p:sp>
        <p:nvSpPr>
          <p:cNvPr id="135" name="element-115">
            <a:extLst>
              <a:ext uri="{FF2B5EF4-FFF2-40B4-BE49-F238E27FC236}">
                <a16:creationId xmlns:a16="http://schemas.microsoft.com/office/drawing/2014/main" id="{9605B215-3FC6-4938-99ED-59ABC7FC9D83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7562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기준 모델에서 매칭 그룹과 화면용 통계·영상 비교를 생성합니다.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8. 영상 지표와 보고서 출력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10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116">
            <a:extLst>
              <a:ext uri="{FF2B5EF4-FFF2-40B4-BE49-F238E27FC236}">
                <a16:creationId xmlns:a16="http://schemas.microsoft.com/office/drawing/2014/main" id="{DADE442B-5EF3-4AC2-9935-FF83937E91C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117">
            <a:extLst>
              <a:ext uri="{FF2B5EF4-FFF2-40B4-BE49-F238E27FC236}">
                <a16:creationId xmlns:a16="http://schemas.microsoft.com/office/drawing/2014/main" id="{E51ED30C-67F9-442C-85FC-4E452D6D4CF5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정규화 분석과 기준 분석은 각각 영상 지표를 계산합니다.</a:t>
            </a:r>
          </a:p>
        </p:txBody>
      </p:sp>
      <p:graphicFrame>
        <p:nvGraphicFramePr>
          <p:cNvPr id="102" name="표 101"/>
          <p:cNvGraphicFramePr/>
          <p:nvPr/>
        </p:nvGraphicFramePr>
        <p:xfrm>
          <a:off x="723900" y="1762125"/>
          <a:ext cx="10744200" cy="35052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처리 경로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계산 및 저장 위치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결과 사용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정규화 분석 경로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OpenCvImageAnalysisModule.Analyze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SSIM, PSNR, RMSE, 픽셀 차이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AnalysisResult.ImageMetrics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선택 지표 상태와 메시지 보관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기준 분석 경로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TttmAnalysisEngine 내부 쌍별 비교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영상 지표와 결함 IoU 계산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TttmAnalysisResult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PairwiseComparisons에 반영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화면·보고서 출력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ViewModel의 내보내기 명령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TttmPdfReportExporter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CSV / 분석 이미지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HTML 생성 후 Edge로 PDF 저장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3" name="element-118">
            <a:extLst>
              <a:ext uri="{FF2B5EF4-FFF2-40B4-BE49-F238E27FC236}">
                <a16:creationId xmlns:a16="http://schemas.microsoft.com/office/drawing/2014/main" id="{2E57E7A9-3D20-467B-89A5-E6273DD19007}"/>
              </a:ext>
            </a:extLst>
          </p:cNvPr>
          <p:cNvSpPr>
            <a:spLocks noGrp="1"/>
          </p:cNvSpPr>
          <p:nvPr/>
        </p:nvSpPr>
        <p:spPr>
          <a:xfrm>
            <a:off x="723900" y="5495925"/>
            <a:ext cx="10744200" cy="466725"/>
          </a:xfrm>
          <a:prstGeom prst="rect">
            <a:avLst/>
          </a:prstGeom>
          <a:solidFill>
            <a:srgbClr val="FFF6EC"/>
          </a:solidFill>
          <a:ln w="7620">
            <a:solidFill>
              <a:srgbClr val="F1D4BB"/>
            </a:solidFill>
            <a:prstDash val="solid"/>
          </a:ln>
        </p:spPr>
      </p:sp>
      <p:sp>
        <p:nvSpPr>
          <p:cNvPr id="104" name="element-119">
            <a:extLst>
              <a:ext uri="{FF2B5EF4-FFF2-40B4-BE49-F238E27FC236}">
                <a16:creationId xmlns:a16="http://schemas.microsoft.com/office/drawing/2014/main" id="{B3D73D35-92C2-4F65-9AF6-9522809D9223}"/>
              </a:ext>
            </a:extLst>
          </p:cNvPr>
          <p:cNvSpPr>
            <a:spLocks noGrp="1"/>
          </p:cNvSpPr>
          <p:nvPr/>
        </p:nvSpPr>
        <p:spPr>
          <a:xfrm>
            <a:off x="838200" y="5572125"/>
            <a:ext cx="10515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현재 연결 방식: 정규화 ImageMetrics를 복사하지 않고 기준 엔진이 최종 화면용 지표를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9. 오류 처리와 실행 상태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11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120">
            <a:extLst>
              <a:ext uri="{FF2B5EF4-FFF2-40B4-BE49-F238E27FC236}">
                <a16:creationId xmlns:a16="http://schemas.microsoft.com/office/drawing/2014/main" id="{B5960E25-968E-4212-9064-A8985744A17F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121">
            <a:extLst>
              <a:ext uri="{FF2B5EF4-FFF2-40B4-BE49-F238E27FC236}">
                <a16:creationId xmlns:a16="http://schemas.microsoft.com/office/drawing/2014/main" id="{A49C7BBA-0FB5-4774-9690-AA199E750B45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필수 입력 오류와 선택 영상 지표 오류를 구분해서 처리</a:t>
            </a:r>
          </a:p>
        </p:txBody>
      </p:sp>
      <p:graphicFrame>
        <p:nvGraphicFramePr>
          <p:cNvPr id="102" name="표 101"/>
          <p:cNvGraphicFramePr/>
          <p:nvPr/>
        </p:nvGraphicFramePr>
        <p:xfrm>
          <a:off x="723900" y="1714500"/>
          <a:ext cx="10744200" cy="3524250"/>
        </p:xfrm>
        <a:graphic>
          <a:graphicData uri="http://schemas.openxmlformats.org/drawingml/2006/table">
            <a:tbl>
              <a:tblPr/>
              <a:tblGrid>
                <a:gridCol w="306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상황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반환 / 상태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75" b="1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호출자 처리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mpd="sng">
                      <a:solidFill>
                        <a:srgbClr val="D8E3EF"/>
                      </a:solidFill>
                      <a:prstDash val="soli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E8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요청 누락·장비 수 부족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NULL_REQUEST / INSUFFICIENT_INPUT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실패 결과를 화면에 표시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프로파일·읽기·정규화 오류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INPUT_VALIDATION_FAILED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장비별 단계와 진단 포함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매칭 실행 전에 중단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문제 파일·설정 확인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기준 모델 변환 오류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RESULT_CONVERSION_FAILED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ResultConversion 단계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최종 실패 결과와 상세 진단 반환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영상 없음·크기 불일치·디코딩 실패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MissingInput / Failed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기준 엔진은 영상 진단 기록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영상 지표 상태 확인</a:t>
                      </a:r>
                    </a:p>
                    <a:p>
                      <a:pPr algn="l"/>
                      <a:r>
                        <a:rPr lang="ko-KR" sz="1388" b="0" spc="0">
                          <a:solidFill>
                            <a:srgbClr val="111111"/>
                          </a:solidFill>
                          <a:latin typeface="Malgun Gothic"/>
                          <a:ea typeface="맑은 고딕"/>
                          <a:cs typeface="Malgun Gothic"/>
                        </a:rPr>
                        <a:t>좌표 분석 결과와 구분</a:t>
                      </a:r>
                    </a:p>
                  </a:txBody>
                  <a:tcPr marL="114300" marR="114300" marT="104775" marB="85725">
                    <a:lnL w="6350" cmpd="sng">
                      <a:solidFill>
                        <a:srgbClr val="D8E3EF"/>
                      </a:solidFill>
                      <a:prstDash val="solid"/>
                    </a:lnL>
                    <a:lnR w="6350" cmpd="sng">
                      <a:solidFill>
                        <a:srgbClr val="D8E3EF"/>
                      </a:solidFill>
                      <a:prstDash val="solid"/>
                    </a:lnR>
                    <a:lnT w="6350" cap="flat" cmpd="sng" algn="ctr">
                      <a:solidFill>
                        <a:srgbClr val="D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E3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" name="element-122">
            <a:extLst>
              <a:ext uri="{FF2B5EF4-FFF2-40B4-BE49-F238E27FC236}">
                <a16:creationId xmlns:a16="http://schemas.microsoft.com/office/drawing/2014/main" id="{A605BC11-CD19-43B2-BD9E-56C6DCC99E60}"/>
              </a:ext>
            </a:extLst>
          </p:cNvPr>
          <p:cNvSpPr>
            <a:spLocks noGrp="1"/>
          </p:cNvSpPr>
          <p:nvPr/>
        </p:nvSpPr>
        <p:spPr>
          <a:xfrm>
            <a:off x="723900" y="5514975"/>
            <a:ext cx="10744200" cy="504825"/>
          </a:xfrm>
          <a:prstGeom prst="rect">
            <a:avLst/>
          </a:prstGeom>
          <a:solidFill>
            <a:srgbClr val="FFF6EC"/>
          </a:solidFill>
          <a:ln w="7620">
            <a:solidFill>
              <a:srgbClr val="F1D4BB"/>
            </a:solidFill>
            <a:prstDash val="solid"/>
          </a:ln>
        </p:spPr>
      </p:sp>
      <p:sp>
        <p:nvSpPr>
          <p:cNvPr id="104" name="element-123">
            <a:extLst>
              <a:ext uri="{FF2B5EF4-FFF2-40B4-BE49-F238E27FC236}">
                <a16:creationId xmlns:a16="http://schemas.microsoft.com/office/drawing/2014/main" id="{45E3E1E2-80ED-4692-9E4D-B8A557C75511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105156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27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현재 Studio 경로는 Task.Run(Analyze)을 사용합니다. 별도 AnalyzeAsync의 취소 확인은 분석 전후에 수행합니다.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884"/>
            <a:ext cx="12192000" cy="59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73152"/>
            <a:ext cx="9098280" cy="406265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>
              <a:def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000000"/>
                </a:solidFill>
                <a:latin typeface="Malgun Gothic"/>
                <a:ea typeface="맑은 고딕"/>
                <a:cs typeface="Malgun Gothic"/>
              </a:rPr>
              <a:t>■ 10. 코드 읽기 순서와 확장 지점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A5ADA-F847-427A-BD16-2D18569C1AE1}"/>
              </a:ext>
            </a:extLst>
          </p:cNvPr>
          <p:cNvSpPr txBox="1"/>
          <p:nvPr/>
        </p:nvSpPr>
        <p:spPr>
          <a:xfrm>
            <a:off x="10469880" y="6419088"/>
            <a:ext cx="1463040" cy="175433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>
              <a:def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900" b="0" spc="0">
                <a:solidFill>
                  <a:srgbClr val="808080"/>
                </a:solidFill>
                <a:latin typeface="Malgun Gothic"/>
                <a:ea typeface="맑은 고딕"/>
                <a:cs typeface="Malgun Gothic"/>
              </a:rPr>
              <a:t>12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416905AC-2249-47A0-9F61-1EF14ECB63BE}"/>
              </a:ext>
            </a:extLst>
          </p:cNvPr>
          <p:cNvSpPr>
            <a:spLocks noGrp="1"/>
          </p:cNvSpPr>
          <p:nvPr/>
        </p:nvSpPr>
        <p:spPr>
          <a:xfrm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rgbClr val="DDDDDD"/>
            </a:solidFill>
          </a:ln>
        </p:spPr>
      </p:sp>
      <p:sp>
        <p:nvSpPr>
          <p:cNvPr id="100" name="element-124">
            <a:extLst>
              <a:ext uri="{FF2B5EF4-FFF2-40B4-BE49-F238E27FC236}">
                <a16:creationId xmlns:a16="http://schemas.microsoft.com/office/drawing/2014/main" id="{7E2E7EB4-F79F-4F50-A62C-2C2859D0422D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0858500" cy="609600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1" name="element-125">
            <a:extLst>
              <a:ext uri="{FF2B5EF4-FFF2-40B4-BE49-F238E27FC236}">
                <a16:creationId xmlns:a16="http://schemas.microsoft.com/office/drawing/2014/main" id="{5BEA58E3-44E3-4DC1-ABBB-EAE5E01D9CA4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40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725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화면에서 시작해 서비스, 입력 규칙, 엔진 순서로 코드 확인</a:t>
            </a:r>
          </a:p>
        </p:txBody>
      </p:sp>
      <p:sp>
        <p:nvSpPr>
          <p:cNvPr id="102" name="element-126">
            <a:extLst>
              <a:ext uri="{FF2B5EF4-FFF2-40B4-BE49-F238E27FC236}">
                <a16:creationId xmlns:a16="http://schemas.microsoft.com/office/drawing/2014/main" id="{CEE30F10-5E04-4B3F-B14D-6860BBEC4275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01</a:t>
            </a:r>
          </a:p>
        </p:txBody>
      </p:sp>
      <p:sp>
        <p:nvSpPr>
          <p:cNvPr id="103" name="element-127">
            <a:extLst>
              <a:ext uri="{FF2B5EF4-FFF2-40B4-BE49-F238E27FC236}">
                <a16:creationId xmlns:a16="http://schemas.microsoft.com/office/drawing/2014/main" id="{A2E6C002-FE1F-4742-BECD-536CA97D751F}"/>
              </a:ext>
            </a:extLst>
          </p:cNvPr>
          <p:cNvSpPr>
            <a:spLocks noGrp="1"/>
          </p:cNvSpPr>
          <p:nvPr/>
        </p:nvSpPr>
        <p:spPr>
          <a:xfrm>
            <a:off x="1485900" y="1752600"/>
            <a:ext cx="9429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TttmStudioViewModel</a:t>
            </a:r>
          </a:p>
        </p:txBody>
      </p:sp>
      <p:sp>
        <p:nvSpPr>
          <p:cNvPr id="104" name="element-128">
            <a:extLst>
              <a:ext uri="{FF2B5EF4-FFF2-40B4-BE49-F238E27FC236}">
                <a16:creationId xmlns:a16="http://schemas.microsoft.com/office/drawing/2014/main" id="{06FB97B8-66A6-4237-B4AF-BDD91CEFE801}"/>
              </a:ext>
            </a:extLst>
          </p:cNvPr>
          <p:cNvSpPr>
            <a:spLocks noGrp="1"/>
          </p:cNvSpPr>
          <p:nvPr/>
        </p:nvSpPr>
        <p:spPr>
          <a:xfrm>
            <a:off x="1485900" y="21145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RunAnalysisAsync에서 요청 구성과 화면 갱신 확인</a:t>
            </a:r>
          </a:p>
        </p:txBody>
      </p:sp>
      <p:sp>
        <p:nvSpPr>
          <p:cNvPr id="105" name="element-129">
            <a:extLst>
              <a:ext uri="{FF2B5EF4-FFF2-40B4-BE49-F238E27FC236}">
                <a16:creationId xmlns:a16="http://schemas.microsoft.com/office/drawing/2014/main" id="{5E7DC7C9-6E44-4496-8A6A-F3D7E4F5FAA2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10820400" cy="0"/>
          </a:xfrm>
          <a:prstGeom prst="line">
            <a:avLst/>
          </a:prstGeom>
          <a:noFill/>
          <a:ln w="6668">
            <a:solidFill>
              <a:srgbClr val="D8E1E8"/>
            </a:solidFill>
            <a:prstDash val="solid"/>
          </a:ln>
        </p:spPr>
      </p:sp>
      <p:sp>
        <p:nvSpPr>
          <p:cNvPr id="106" name="element-130">
            <a:extLst>
              <a:ext uri="{FF2B5EF4-FFF2-40B4-BE49-F238E27FC236}">
                <a16:creationId xmlns:a16="http://schemas.microsoft.com/office/drawing/2014/main" id="{57C0C7C2-D43B-4E3C-B6E2-3052FD53CFC5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02</a:t>
            </a:r>
          </a:p>
        </p:txBody>
      </p:sp>
      <p:sp>
        <p:nvSpPr>
          <p:cNvPr id="107" name="element-131">
            <a:extLst>
              <a:ext uri="{FF2B5EF4-FFF2-40B4-BE49-F238E27FC236}">
                <a16:creationId xmlns:a16="http://schemas.microsoft.com/office/drawing/2014/main" id="{69C42830-1390-4260-99DD-AB1F67A67617}"/>
              </a:ext>
            </a:extLst>
          </p:cNvPr>
          <p:cNvSpPr>
            <a:spLocks noGrp="1"/>
          </p:cNvSpPr>
          <p:nvPr/>
        </p:nvSpPr>
        <p:spPr>
          <a:xfrm>
            <a:off x="1485900" y="2590800"/>
            <a:ext cx="9429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ProfiledTttmAnalysisService</a:t>
            </a:r>
          </a:p>
        </p:txBody>
      </p:sp>
      <p:sp>
        <p:nvSpPr>
          <p:cNvPr id="108" name="element-132">
            <a:extLst>
              <a:ext uri="{FF2B5EF4-FFF2-40B4-BE49-F238E27FC236}">
                <a16:creationId xmlns:a16="http://schemas.microsoft.com/office/drawing/2014/main" id="{733190F0-E1FB-4BEA-95E1-AAFF552F6573}"/>
              </a:ext>
            </a:extLst>
          </p:cNvPr>
          <p:cNvSpPr>
            <a:spLocks noGrp="1"/>
          </p:cNvSpPr>
          <p:nvPr/>
        </p:nvSpPr>
        <p:spPr>
          <a:xfrm>
            <a:off x="1485900" y="29527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Analyze에서 정규화 호출, 모델 변환, 기준 엔진 연결 확인</a:t>
            </a:r>
          </a:p>
        </p:txBody>
      </p:sp>
      <p:sp>
        <p:nvSpPr>
          <p:cNvPr id="109" name="element-133">
            <a:extLst>
              <a:ext uri="{FF2B5EF4-FFF2-40B4-BE49-F238E27FC236}">
                <a16:creationId xmlns:a16="http://schemas.microsoft.com/office/drawing/2014/main" id="{B3DB3234-4927-474E-A423-3B066B098770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10820400" cy="0"/>
          </a:xfrm>
          <a:prstGeom prst="line">
            <a:avLst/>
          </a:prstGeom>
          <a:noFill/>
          <a:ln w="6668">
            <a:solidFill>
              <a:srgbClr val="D8E1E8"/>
            </a:solidFill>
            <a:prstDash val="solid"/>
          </a:ln>
        </p:spPr>
      </p:sp>
      <p:sp>
        <p:nvSpPr>
          <p:cNvPr id="110" name="element-134">
            <a:extLst>
              <a:ext uri="{FF2B5EF4-FFF2-40B4-BE49-F238E27FC236}">
                <a16:creationId xmlns:a16="http://schemas.microsoft.com/office/drawing/2014/main" id="{65D879B6-B18E-4FC8-A673-E690CF356AB9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03</a:t>
            </a:r>
          </a:p>
        </p:txBody>
      </p:sp>
      <p:sp>
        <p:nvSpPr>
          <p:cNvPr id="111" name="element-135">
            <a:extLst>
              <a:ext uri="{FF2B5EF4-FFF2-40B4-BE49-F238E27FC236}">
                <a16:creationId xmlns:a16="http://schemas.microsoft.com/office/drawing/2014/main" id="{D1AFAD86-08C7-4625-86A3-00C7521A0F98}"/>
              </a:ext>
            </a:extLst>
          </p:cNvPr>
          <p:cNvSpPr>
            <a:spLocks noGrp="1"/>
          </p:cNvSpPr>
          <p:nvPr/>
        </p:nvSpPr>
        <p:spPr>
          <a:xfrm>
            <a:off x="1485900" y="3429000"/>
            <a:ext cx="9429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TttmAnalysisApplicationService</a:t>
            </a:r>
          </a:p>
        </p:txBody>
      </p:sp>
      <p:sp>
        <p:nvSpPr>
          <p:cNvPr id="112" name="element-136">
            <a:extLst>
              <a:ext uri="{FF2B5EF4-FFF2-40B4-BE49-F238E27FC236}">
                <a16:creationId xmlns:a16="http://schemas.microsoft.com/office/drawing/2014/main" id="{C3ABC642-DDD1-43F4-A17E-4A1A2A505BF0}"/>
              </a:ext>
            </a:extLst>
          </p:cNvPr>
          <p:cNvSpPr>
            <a:spLocks noGrp="1"/>
          </p:cNvSpPr>
          <p:nvPr/>
        </p:nvSpPr>
        <p:spPr>
          <a:xfrm>
            <a:off x="1485900" y="37909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장비별 읽기·정규화와 영상 모듈 등록·호출 확인</a:t>
            </a:r>
          </a:p>
        </p:txBody>
      </p:sp>
      <p:sp>
        <p:nvSpPr>
          <p:cNvPr id="113" name="element-137">
            <a:extLst>
              <a:ext uri="{FF2B5EF4-FFF2-40B4-BE49-F238E27FC236}">
                <a16:creationId xmlns:a16="http://schemas.microsoft.com/office/drawing/2014/main" id="{EA165E5E-C484-4487-A26B-D01D56277212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820400" cy="0"/>
          </a:xfrm>
          <a:prstGeom prst="line">
            <a:avLst/>
          </a:prstGeom>
          <a:noFill/>
          <a:ln w="6668">
            <a:solidFill>
              <a:srgbClr val="D8E1E8"/>
            </a:solidFill>
            <a:prstDash val="solid"/>
          </a:ln>
        </p:spPr>
      </p:sp>
      <p:sp>
        <p:nvSpPr>
          <p:cNvPr id="114" name="element-138">
            <a:extLst>
              <a:ext uri="{FF2B5EF4-FFF2-40B4-BE49-F238E27FC236}">
                <a16:creationId xmlns:a16="http://schemas.microsoft.com/office/drawing/2014/main" id="{2A145872-F6D8-45F7-BF0A-0FC45F9A354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2400" b="1" spc="0">
                <a:solidFill>
                  <a:srgbClr val="E8000D"/>
                </a:solidFill>
                <a:latin typeface="Malgun Gothic"/>
                <a:ea typeface="맑은 고딕"/>
                <a:cs typeface="Malgun Gothic"/>
              </a:rPr>
              <a:t>04</a:t>
            </a:r>
          </a:p>
        </p:txBody>
      </p:sp>
      <p:sp>
        <p:nvSpPr>
          <p:cNvPr id="115" name="element-139">
            <a:extLst>
              <a:ext uri="{FF2B5EF4-FFF2-40B4-BE49-F238E27FC236}">
                <a16:creationId xmlns:a16="http://schemas.microsoft.com/office/drawing/2014/main" id="{50112B94-520C-431C-B5DE-8DA7FF065229}"/>
              </a:ext>
            </a:extLst>
          </p:cNvPr>
          <p:cNvSpPr>
            <a:spLocks noGrp="1"/>
          </p:cNvSpPr>
          <p:nvPr/>
        </p:nvSpPr>
        <p:spPr>
          <a:xfrm>
            <a:off x="1485900" y="4267200"/>
            <a:ext cx="9429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800" b="1" spc="0">
                <a:solidFill>
                  <a:srgbClr val="111111"/>
                </a:solidFill>
                <a:latin typeface="Malgun Gothic"/>
                <a:ea typeface="맑은 고딕"/>
                <a:cs typeface="Malgun Gothic"/>
              </a:rPr>
              <a:t>Profiles / Engine / Metrics</a:t>
            </a:r>
          </a:p>
        </p:txBody>
      </p:sp>
      <p:sp>
        <p:nvSpPr>
          <p:cNvPr id="116" name="element-140">
            <a:extLst>
              <a:ext uri="{FF2B5EF4-FFF2-40B4-BE49-F238E27FC236}">
                <a16:creationId xmlns:a16="http://schemas.microsoft.com/office/drawing/2014/main" id="{C3A309EF-A257-4108-B7F0-C0357F13B9A4}"/>
              </a:ext>
            </a:extLst>
          </p:cNvPr>
          <p:cNvSpPr>
            <a:spLocks noGrp="1"/>
          </p:cNvSpPr>
          <p:nvPr/>
        </p:nvSpPr>
        <p:spPr>
          <a:xfrm>
            <a:off x="1485900" y="46291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제품별 규칙, 일대일 매칭, 영상 계산 구현 확인</a:t>
            </a:r>
          </a:p>
        </p:txBody>
      </p:sp>
      <p:sp>
        <p:nvSpPr>
          <p:cNvPr id="117" name="element-141">
            <a:extLst>
              <a:ext uri="{FF2B5EF4-FFF2-40B4-BE49-F238E27FC236}">
                <a16:creationId xmlns:a16="http://schemas.microsoft.com/office/drawing/2014/main" id="{360027C7-443E-4CA8-9C84-1A30C545A113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820400" cy="0"/>
          </a:xfrm>
          <a:prstGeom prst="line">
            <a:avLst/>
          </a:prstGeom>
          <a:noFill/>
          <a:ln w="6668">
            <a:solidFill>
              <a:srgbClr val="D8E1E8"/>
            </a:solidFill>
            <a:prstDash val="solid"/>
          </a:ln>
        </p:spPr>
      </p:sp>
      <p:sp>
        <p:nvSpPr>
          <p:cNvPr id="118" name="element-142">
            <a:extLst>
              <a:ext uri="{FF2B5EF4-FFF2-40B4-BE49-F238E27FC236}">
                <a16:creationId xmlns:a16="http://schemas.microsoft.com/office/drawing/2014/main" id="{A81ACBA8-40C9-49C9-9DF0-93CD7EED8AAE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65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650" b="1" spc="0">
                <a:solidFill>
                  <a:srgbClr val="1479C9"/>
                </a:solidFill>
                <a:latin typeface="Malgun Gothic"/>
                <a:ea typeface="맑은 고딕"/>
                <a:cs typeface="Malgun Gothic"/>
              </a:rPr>
              <a:t>확장 위치</a:t>
            </a:r>
          </a:p>
        </p:txBody>
      </p:sp>
      <p:sp>
        <p:nvSpPr>
          <p:cNvPr id="119" name="element-143">
            <a:extLst>
              <a:ext uri="{FF2B5EF4-FFF2-40B4-BE49-F238E27FC236}">
                <a16:creationId xmlns:a16="http://schemas.microsoft.com/office/drawing/2014/main" id="{7E6AE8E3-C819-470E-AAD3-10479C1EB195}"/>
              </a:ext>
            </a:extLst>
          </p:cNvPr>
          <p:cNvSpPr>
            <a:spLocks noGrp="1"/>
          </p:cNvSpPr>
          <p:nvPr/>
        </p:nvSpPr>
        <p:spPr>
          <a:xfrm>
            <a:off x="2362200" y="5381625"/>
            <a:ext cx="8953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새 제품: IInspectionProfile    새 영상 지표: IImageAnalysisModule</a:t>
            </a:r>
          </a:p>
          <a:p>
            <a:pPr>
              <a:def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defRPr>
            </a:pPr>
            <a:r>
              <a:rPr lang="ko-KR" sz="1500" b="0" spc="0">
                <a:solidFill>
                  <a:srgbClr val="444444"/>
                </a:solidFill>
                <a:latin typeface="Malgun Gothic"/>
                <a:ea typeface="맑은 고딕"/>
                <a:cs typeface="Malgun Gothic"/>
              </a:rPr>
              <a:t>기본 등록: TttmAnalysisCompositionRoot.CreateDefault</a:t>
            </a:r>
          </a:p>
        </p:txBody>
      </p:sp>
    </p:spTree>
    <p:extLst>
      <p:ext uri="{BB962C8B-B14F-4D97-AF65-F5344CB8AC3E}">
        <p14:creationId xmlns:p14="http://schemas.microsoft.com/office/powerpoint/2010/main" val="424582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26785</TotalTime>
  <Words>1160</Words>
  <Application>Microsoft Office PowerPoint</Application>
  <PresentationFormat>와이드스크린</PresentationFormat>
  <Paragraphs>283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revision>818</cp:revision>
  <dcterms:created xsi:type="dcterms:W3CDTF">2018-03-13T01:59:24Z</dcterms:created>
  <dcterms:modified xsi:type="dcterms:W3CDTF">2026-09-22T02:31:00Z</dcterms:modified>
</cp:coreProperties>
</file>